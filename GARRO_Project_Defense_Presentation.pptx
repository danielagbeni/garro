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 — 45 seconds):</a:t>
            </a:r>
          </a:p>
          <a:p>
            <a:r>
              <a:t>"Good morning, respected examiners, distinguished members of the panel, and my supervisor. </a:t>
            </a:r>
          </a:p>
          <a:p>
            <a:r>
              <a:t>My name is Agbeni Daniel Oluwafemi, matriculation number FPA/CS/24/3-0006, from the Department of Networking and Cloud Computing. </a:t>
            </a:r>
          </a:p>
          <a:p>
            <a:r>
              <a:t>Today, I present my project defense titled: 'Dynamic Traffic Routing in Software-Defined Networks Using Deep Reinforcement Learning.' </a:t>
            </a:r>
          </a:p>
          <a:p>
            <a:r>
              <a:t>The system I designed, trained, and evaluated is called GARRO: Graph-Attention Reinforcement Routing Orchestrator. </a:t>
            </a:r>
          </a:p>
          <a:p>
            <a:r>
              <a:t>In this presentation, I will walk you through the real-time congestion problem in modern networks, why traditional protocols fail, how we combined Graph Transformers with Proximal Policy Optimization in a safe Digital Twin, and the empirical results from our multi-topology benchmarks."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 — 60 seconds):</a:t>
            </a:r>
          </a:p>
          <a:p>
            <a:r>
              <a:t>"To appreciate the need for GARRO, we must look at how modern traffic behaves. In cloud data centers and 5G backbones, traffic is highly bursty and dynamic. </a:t>
            </a:r>
          </a:p>
          <a:p>
            <a:r>
              <a:t>However, the protocols running the internet today—such as OSPF—were designed decades ago. OSPF calculates a single shortest path based on static weights. When traffic surges, it repeatedly channels flows into central bottleneck links while surrounding peripheral links sit underutilized. </a:t>
            </a:r>
          </a:p>
          <a:p>
            <a:r>
              <a:t>Even ECMP, which spreads traffic across multiple equal-cost paths, relies on static hash functions that are completely blind to real-time buffer queues. When multiple large flows hash to the same link, hash collisions trigger queue saturation. </a:t>
            </a:r>
          </a:p>
          <a:p>
            <a:r>
              <a:t>As shown on the right, traditional routing leads directly to congestion, packet drops, and high latency. What modern SDNs require is an intelligent closed loop: sensing global network state and dynamically steering flows along non-interfering candidate paths."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3 — 50 seconds):</a:t>
            </a:r>
          </a:p>
          <a:p>
            <a:r>
              <a:t>"This brings us directly to the Problem Statement. We synthesized the challenges in modern routing into three fundamental barriers:</a:t>
            </a:r>
          </a:p>
          <a:p>
            <a:r>
              <a:t>First, limited real-time awareness: classical protocols compute static shortest paths and cannot react to sub-second buffer build-ups.</a:t>
            </a:r>
          </a:p>
          <a:p>
            <a:r>
              <a:t>Second, static multi-path distribution: ECMP hashes packets blindly, creating devastating hash collisions between large elephant flows.</a:t>
            </a:r>
          </a:p>
          <a:p>
            <a:r>
              <a:t>Third, DRL deployment hazards: while AI is promising, training a reinforcement learning model on a live operational network is suicidal—trial-and-error exploration causes immediate packet black-holes and SLA breaches. Moreover, standard neural networks fail completely when the network topology changes.</a:t>
            </a:r>
          </a:p>
          <a:p>
            <a:r>
              <a:t>Therefore, our core challenge was to build an architecture that understands dynamic graphs, learns stable policies offline in a safe digital twin, and translates human operational intent into real-time OpenFlow rules."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4 — 45 seconds):</a:t>
            </a:r>
          </a:p>
          <a:p>
            <a:r>
              <a:t>"To solve these challenges, our primary aim was to design, develop, and evaluate GARRO—a hybrid intelligent routing orchestrator for dynamic SDNs.</a:t>
            </a:r>
          </a:p>
          <a:p>
            <a:r>
              <a:t>We broke this down into five concrete objectives, as established in Chapter One:</a:t>
            </a:r>
          </a:p>
          <a:p>
            <a:r>
              <a:t>Objective 1: Model traffic routing as a multi-objective Markov Decision Process.</a:t>
            </a:r>
          </a:p>
          <a:p>
            <a:r>
              <a:t>Objective 2: Build the intelligence engine combining Graph Transformers with PPO.</a:t>
            </a:r>
          </a:p>
          <a:p>
            <a:r>
              <a:t>Objective 3: Develop a safe offline Digital Twin using M/M/1/K queuing theory.</a:t>
            </a:r>
          </a:p>
          <a:p>
            <a:r>
              <a:t>Objective 4: Implement an Agentic AI layer to translate operator intent into mathematical reward weights.</a:t>
            </a:r>
          </a:p>
          <a:p>
            <a:r>
              <a:t>And Objective 5: Benchmark GARRO against OSPF, ECMP, and DQN across diverse topologies. </a:t>
            </a:r>
          </a:p>
          <a:p>
            <a:r>
              <a:t>Every single one of these objectives was fully implemented and empirically validated."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5 — 50 seconds):</a:t>
            </a:r>
          </a:p>
          <a:p>
            <a:r>
              <a:t>"In Chapter Two, we conducted a systematic review of the routing literature. </a:t>
            </a:r>
          </a:p>
          <a:p>
            <a:r>
              <a:t>As shown in this comparative table:</a:t>
            </a:r>
          </a:p>
          <a:p>
            <a:r>
              <a:t>OSPF is reliable and simple, but completely congestion-blind. </a:t>
            </a:r>
          </a:p>
          <a:p>
            <a:r>
              <a:t>ECMP provides multi-path forwarding, but its static 5-tuple hash causes severe elephant flow collisions.</a:t>
            </a:r>
          </a:p>
          <a:p>
            <a:r>
              <a:t>When looking at reinforcement learning, classical Q-learning suffers from the curse of dimensionality. </a:t>
            </a:r>
          </a:p>
          <a:p>
            <a:r>
              <a:t>Deep Q-Networks (DQN) handle continuous states, but are limited to discrete actions and suffer from value overestimation. </a:t>
            </a:r>
          </a:p>
          <a:p>
            <a:r>
              <a:t>DDPG provides continuous control, but its policy updates are notoriously unstable.</a:t>
            </a:r>
          </a:p>
          <a:p>
            <a:r>
              <a:t>This led us to PPO—Proximal Policy Optimization—which guarantees stable, monotonic policy improvements using a clipped surrogate objective. </a:t>
            </a:r>
          </a:p>
          <a:p>
            <a:r>
              <a:t>However, standard PPO requires a structured state representation. That brings us directly to our identified research gap."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6 — 50 seconds):</a:t>
            </a:r>
          </a:p>
          <a:p>
            <a:r>
              <a:t>"Our literature search revealed a major research gap: existing solutions treat these four problems as completely separate topics:</a:t>
            </a:r>
          </a:p>
          <a:p>
            <a:r>
              <a:t>Gap 1: Standard neural networks cannot generalize across topologies because they rely on fixed-size vector inputs.</a:t>
            </a:r>
          </a:p>
          <a:p>
            <a:r>
              <a:t>Gap 2: DRL models require millions of exploratory steps, which cannot be run on live production networks without causing packet loss.</a:t>
            </a:r>
          </a:p>
          <a:p>
            <a:r>
              <a:t>Gap 3: DRL models hardcode fixed reward weights, making them incapable of adapting to changing human operational intent.</a:t>
            </a:r>
          </a:p>
          <a:p>
            <a:r>
              <a:t>Gap 4: Most published papers remain theoretical scripts without ever touching a real SDN controller or OpenFlow data plane.</a:t>
            </a:r>
          </a:p>
          <a:p>
            <a:r>
              <a:t>GARRO directly bridges these gaps by synthesizing Graph Transformers, an M/M/1/K Digital Twin, PPO reinforcement learning, and an Agentic AI LLM layer into a unified system."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7 — 60 seconds):</a:t>
            </a:r>
          </a:p>
          <a:p>
            <a:r>
              <a:t>"Slide 7 shows the overarching architecture of GARRO. As described in Chapter Three, one of the biggest dangers when applying AI to Software-Defined Networks is performance blocking: if a heavy neural network runs inside the controller's main thread, packet processing stalls.</a:t>
            </a:r>
          </a:p>
          <a:p>
            <a:r>
              <a:t>To solve this, we implemented a strictly decoupled three-plane architecture:</a:t>
            </a:r>
          </a:p>
          <a:p>
            <a:r>
              <a:t>1. At the top is the Operator &amp; Agentic AI Plane: an operator inputs high-level natural language intent, and our Groq LPU model translates it into reward weights in under 80 milliseconds.</a:t>
            </a:r>
          </a:p>
          <a:p>
            <a:r>
              <a:t>2. Second is the AI Decision Plane: containing the Graph Transformer and PPO actor-critic network. It receives telemetry and outputs the optimal path.</a:t>
            </a:r>
          </a:p>
          <a:p>
            <a:r>
              <a:t>3. Third is the Control Plane: running an OS-Ken SDN controller. It communicates with the AI plane via an asynchronous REST API, translating path choices into OpenFlow 1.3 flow-mod messages.</a:t>
            </a:r>
          </a:p>
          <a:p>
            <a:r>
              <a:t>4. Finally, the Data Plane: running Mininet and Open vSwitch, executing line-rate packet forwarding without any computational drag from the AI models."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8 — 50 seconds):</a:t>
            </a:r>
          </a:p>
          <a:p>
            <a:r>
              <a:t>"How does GARRO actually make a routing decision? </a:t>
            </a:r>
          </a:p>
          <a:p>
            <a:r>
              <a:t>As shown in the five-step pipeline:</a:t>
            </a:r>
          </a:p>
          <a:p>
            <a:r>
              <a:t>First, OS-Ken polls port telemetry from switches using OpenFlow PortStats requests.</a:t>
            </a:r>
          </a:p>
          <a:p>
            <a:r>
              <a:t>Second, the Graph Transformer embeds this into a latent graph representation, using self-attention to capture long-range topological relationships.</a:t>
            </a:r>
          </a:p>
          <a:p>
            <a:r>
              <a:t>Third, the PPO Actor network scores the top candidate paths and selects the path maximizing cumulative expected return.</a:t>
            </a:r>
          </a:p>
          <a:p>
            <a:r>
              <a:t>Fourth, the decision is pushed to OS-Ken via REST API.</a:t>
            </a:r>
          </a:p>
          <a:p>
            <a:r>
              <a:t>Fifth, OS-Ken issues OpenFlow FlowMod rules to program the forwarding tables in hardware.</a:t>
            </a:r>
          </a:p>
          <a:p>
            <a:r>
              <a:t>At the bottom, you can see our multi-objective MDP formulation: the reward mathematically balances throughput, end-to-end latency, packet loss, and link variance. When traffic surges on link A, GARRO's latency and variance penalty triggers, rerouting new flows to link B."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9 — 50 seconds):</a:t>
            </a:r>
          </a:p>
          <a:p>
            <a:r>
              <a:t>"An essential defense question any examiner might ask is: 'Why did you choose Graph Transformers and PPO over other models?'</a:t>
            </a:r>
          </a:p>
          <a:p>
            <a:r>
              <a:t>Here is the core justification:</a:t>
            </a:r>
          </a:p>
          <a:p>
            <a:r>
              <a:t>On the left: traditional neural networks like MLPs require fixed vector inputs. But networks are irregular graphs! An MLP trained on a 14-node network cannot run on a 24-node network. Graph Transformers are permutation invariant, model edge features directly, and capture long-range routing relationships through multi-head self-attention without over-smoothing.</a:t>
            </a:r>
          </a:p>
          <a:p>
            <a:r>
              <a:t>On the right: why PPO? DQN is value-based and suffers from severe Q-value overestimation, causing route flapping. DDPG is notoriously brittle and suffers from actor saturation. </a:t>
            </a:r>
          </a:p>
          <a:p>
            <a:r>
              <a:t>PPO uses a clipped surrogate objective that explicitly forbids destructive policy updates. It is an Actor-Critic architecture that delivers stable, monotonic policy improvements under noisy network traffic."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10 — 50 seconds):</a:t>
            </a:r>
          </a:p>
          <a:p>
            <a:r>
              <a:t>"Slide 10 highlights one of the most practical contributions of this project: our safe training methodology.</a:t>
            </a:r>
          </a:p>
          <a:p>
            <a:r>
              <a:t>As shown on the left: if you train a reinforcement learning agent on a live network, its early random exploration will create routing loops, drop packets, and violate customer SLAs.</a:t>
            </a:r>
          </a:p>
          <a:p>
            <a:r>
              <a:t>To solve this, we built an offline Digital Twin based on M/M/1/K queuing theory. </a:t>
            </a:r>
          </a:p>
          <a:p>
            <a:r>
              <a:t>Why M/M/1/K? </a:t>
            </a:r>
          </a:p>
          <a:p>
            <a:r>
              <a:t>Because network routers and switches have finite physical buffers! The M represents Poisson packet arrivals; the second M represents exponential transmission service time; the 1 is the single link server; and K=50 is the finite buffer capacity.</a:t>
            </a:r>
          </a:p>
          <a:p>
            <a:r>
              <a:t>This allowed our agent to train through millions of steps at ultra-fast GPU simulation speeds (over 50,000 steps per second). Once the policy converged, the validated weights were transferred to the live Mininet SDN testbed with zero operational risk."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11 — 45 seconds):</a:t>
            </a:r>
          </a:p>
          <a:p>
            <a:r>
              <a:t>"Slide 11 details our distributed implementation environment:</a:t>
            </a:r>
          </a:p>
          <a:p>
            <a:r>
              <a:t>For Phase 1 training, we leveraged Kaggle Cloud with dual Tesla T4 GPUs (31 GB VRAM), using PyTorch Geometric and torch.compile for accelerated graph training.</a:t>
            </a:r>
          </a:p>
          <a:p>
            <a:r>
              <a:t>For Phase 2 live emulation, we deployed Ubuntu 22.04 LTS under WSL 2, utilizing Mininet and Open vSwitch with OpenFlow 1.3.</a:t>
            </a:r>
          </a:p>
          <a:p>
            <a:r>
              <a:t>For the SDN control plane, we used the OS-Ken controller with custom WSGI REST endpoints.</a:t>
            </a:r>
          </a:p>
          <a:p>
            <a:r>
              <a:t>For the Agentic AI supervisory plane, we connected to Groq Cloud's ultra-low latency LPUs running openai/gpt-oss-120b.</a:t>
            </a:r>
          </a:p>
          <a:p>
            <a:r>
              <a:t>And finally, for network management, we built an interactive React and Cytoscape.js web dashboard for real-time visualization."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12 — 45 seconds):</a:t>
            </a:r>
          </a:p>
          <a:p>
            <a:r>
              <a:t>"To prove that GARRO is not an overfitted toy model, we tested it across three radically different network topologies:</a:t>
            </a:r>
          </a:p>
          <a:p>
            <a:r>
              <a:t>First, NSFNET—14 nodes, 21 links. This represents a classic sparse Wide Area Network backbone with heavy transcontinental bottleneck links.</a:t>
            </a:r>
          </a:p>
          <a:p>
            <a:r>
              <a:t>Second, GEANT2—24 nodes, 37 links. This is an irregular, asymmetric European research network with complex node degrees, testing scalability and graph embedding.</a:t>
            </a:r>
          </a:p>
          <a:p>
            <a:r>
              <a:t>Third, Fat-Tree with parameter k=4—20 switches and 32 redundant links. This represents modern cloud data center architectures where ECMP is the reigning standard.</a:t>
            </a:r>
          </a:p>
          <a:p>
            <a:r>
              <a:t>By evaluating across these three topologies, we proved that GARRO generalizes across sparse WANs, complex irregular meshes, and dense multi-tier data center fabrics."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13 — 45 seconds):</a:t>
            </a:r>
          </a:p>
          <a:p>
            <a:r>
              <a:t>"In Slide 13, I want to emphasize the scientific rigor of our evaluation methodology.</a:t>
            </a:r>
          </a:p>
          <a:p>
            <a:r>
              <a:t>In reinforcement learning research, experiments can easily be biased if different algorithms experience different random traffic seeds. </a:t>
            </a:r>
          </a:p>
          <a:p>
            <a:r>
              <a:t>To eliminate this, we implemented deterministic per-episode seed synchronization using: env.reset(seed = ep + 42). </a:t>
            </a:r>
          </a:p>
          <a:p>
            <a:r>
              <a:t>This guarantees that Episode 50 for OSPF encounters the exact same traffic bursts, the exact same packet arrival times, and the exact same source-destination demands as Episode 50 for GARRO.</a:t>
            </a:r>
          </a:p>
          <a:p>
            <a:r>
              <a:t>We evaluated six core networking metrics: cumulative episode reward, end-to-end latency, packet loss ratio, delivered throughput, link utilization variance, and standard deviation for SLA stability."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14 — 55 seconds):</a:t>
            </a:r>
          </a:p>
          <a:p>
            <a:r>
              <a:t>"Slide 14 is one of our strongest defense slides because it demonstrates deep engineering diagnostics. </a:t>
            </a:r>
          </a:p>
          <a:p>
            <a:r>
              <a:t>During our early 10,000-episode runs on dual Tesla T4 GPUs, we did not just get a lucky training run. We encountered severe reinforcement learning pathologies: policy entropy collapsed to 0.000, and KL divergence exploded above 0.85, destabilizing the agent.</a:t>
            </a:r>
          </a:p>
          <a:p>
            <a:r>
              <a:t>We methodically diagnosed the root causes and implemented five algorithmic fixes:</a:t>
            </a:r>
          </a:p>
          <a:p>
            <a:r>
              <a:t>1. Target KL early stopping at 0.02 to abort runaway gradient updates.</a:t>
            </a:r>
          </a:p>
          <a:p>
            <a:r>
              <a:t>2. Logit soft-clamping between -10 and +10 to prevent gradient saturation.</a:t>
            </a:r>
          </a:p>
          <a:p>
            <a:r>
              <a:t>3. Square-root learning rate scaling for multi-GPU training.</a:t>
            </a:r>
          </a:p>
          <a:p>
            <a:r>
              <a:t>4. Cosine scheduler horizon resynchronization upon checkpoint resume.</a:t>
            </a:r>
          </a:p>
          <a:p>
            <a:r>
              <a:t>5. Continuous episode step indexing.</a:t>
            </a:r>
          </a:p>
          <a:p>
            <a:r>
              <a:t>As you can see in the training curve on the right, these fixes completely eliminated policy collapse across over 10 million cumulative training steps, yielding monotonic convergence."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15 — 60 seconds):</a:t>
            </a:r>
          </a:p>
          <a:p>
            <a:r>
              <a:t>"Slide 15 presents our hero benchmark results from 500 contiguous episodes—representing 100,000 environment steps on the NSFNET topology.</a:t>
            </a:r>
          </a:p>
          <a:p>
            <a:r>
              <a:t>Look closely at the numbers:</a:t>
            </a:r>
          </a:p>
          <a:p>
            <a:r>
              <a:t>GARRO achieved the highest mean reward of 496.96, edging out OSPF at 495.60, and decisively beating ECMP at 374.86 by 32.6%.</a:t>
            </a:r>
          </a:p>
          <a:p>
            <a:r>
              <a:t>Notice that ECMP performed no better than uniform random routing (374.91). Why? Because under bursty Poisson traffic, ECMP's static 5-tuple hash function repeatedly routes multiple large elephant flows onto the exact same egress port, causing buffer overflow drops.</a:t>
            </a:r>
          </a:p>
          <a:p>
            <a:r>
              <a:t>Furthermore, look at the standard deviation column: GARRO recorded a standard deviation of 17.47—the lowest of all algorithms tested. In production telecom networks, low standard deviation is the ultimate gold standard because it means deterministic, highly predictable QoS with no wild service fluctuations."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16 — 50 seconds):</a:t>
            </a:r>
          </a:p>
          <a:p>
            <a:r>
              <a:t>"On Slide 16, we unpack why the reward numbers matter to network engineers:</a:t>
            </a:r>
          </a:p>
          <a:p>
            <a:r>
              <a:t>1. Throughput: GARRO delivered a 32.6% higher reward than ECMP by keeping peripheral links utilized rather than congesting a single path.</a:t>
            </a:r>
          </a:p>
          <a:p>
            <a:r>
              <a:t>2. Latency: average end-to-end delay remained under 8.2 milliseconds for GARRO, compared to 14.8 ms for ECMP—a 44.6% delay reduction.</a:t>
            </a:r>
          </a:p>
          <a:p>
            <a:r>
              <a:t>3. Packet Loss: across 98.4% of evaluated episodes, GARRO recorded 0.00% packet loss. While OSPF suffered buffer overflows when central links saturated, GARRO proactively steered traffic away before buffers filled up.</a:t>
            </a:r>
          </a:p>
          <a:p>
            <a:r>
              <a:t>4. SLA Stability: GARRO reduced variance by 27.2% compared to ECMP. In production, predictable latency and zero packet loss are what enterprise customers pay for."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17 — 55 seconds):</a:t>
            </a:r>
          </a:p>
          <a:p>
            <a:r>
              <a:t>"In Phase 2, we moved beyond simulation to live SDN orchestration. </a:t>
            </a:r>
          </a:p>
          <a:p>
            <a:r>
              <a:t>As shown on the left, we introduced an Agentic AI layer powered by Groq Cloud's LPU. When a human network operator types: 'Optimize for ultra-low latency for interactive telepresence,' the LLM parses this intent in under 80 milliseconds and translates it into calibrated reward weights: setting alpha-2 for delay to 60%.</a:t>
            </a:r>
          </a:p>
          <a:p>
            <a:r>
              <a:t>The PPO agent instantly adapts its routing decisions to prioritize the lowest-latency links.</a:t>
            </a:r>
          </a:p>
          <a:p>
            <a:r>
              <a:t>On the right is a screenshot of our live web management dashboard built with React and Cytoscape.js. It visualizes the entire 24-node GEANT2 European network topology, actively highlights current PPO paths, and monitors port statistics without blocking the OS-Ken controller."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18 — 50 seconds):</a:t>
            </a:r>
          </a:p>
          <a:p>
            <a:r>
              <a:t>"To conclude our presentation:</a:t>
            </a:r>
          </a:p>
          <a:p>
            <a:r>
              <a:t>GARRO has proven that combining Graph Transformers with PPO inside an offline M/M/1/K Digital Twin delivers adaptive, low-latency, zero-loss routing under dynamic traffic.</a:t>
            </a:r>
          </a:p>
          <a:p>
            <a:r>
              <a:t>Our four major contributions include:</a:t>
            </a:r>
          </a:p>
          <a:p>
            <a:r>
              <a:t>1. The Graph Transformer + PPO routing engine.</a:t>
            </a:r>
          </a:p>
          <a:p>
            <a:r>
              <a:t>2. The safe offline M/M/1/K Digital Twin.</a:t>
            </a:r>
          </a:p>
          <a:p>
            <a:r>
              <a:t>3. The sub-80ms Agentic AI intent translation layer.</a:t>
            </a:r>
          </a:p>
          <a:p>
            <a:r>
              <a:t>4. The full three-plane emulation testbed with OS-Ken and Mininet.</a:t>
            </a:r>
          </a:p>
          <a:p>
            <a:r>
              <a:t>As identified in Chapter Five, future work will focus on physical P4 hardware validation, multi-controller synchronization, and security hardening against adversarial telemetry poisoning."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19 — 20 seconds):</a:t>
            </a:r>
          </a:p>
          <a:p>
            <a:r>
              <a:t>"Thank you very much, respected panel members and examiners, for your time and attention. </a:t>
            </a:r>
          </a:p>
          <a:p>
            <a:r>
              <a:t>I am now ready and welcome your questions, observations, and constructive feedback."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32A45"/>
          </a:solidFill>
          <a:ln w="12700">
            <a:solidFill>
              <a:srgbClr val="1E41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9144000" cy="320040"/>
          </a:xfrm>
          <a:prstGeom prst="rect">
            <a:avLst/>
          </a:prstGeom>
          <a:noFill/>
        </p:spPr>
        <p:txBody>
          <a:bodyPr wrap="none">
            <a:spAutoFit/>
          </a:bodyPr>
          <a:lstStyle/>
          <a:p>
            <a:pPr>
              <a:defRPr sz="1100" b="1">
                <a:solidFill>
                  <a:srgbClr val="00A8CC"/>
                </a:solidFill>
              </a:defRPr>
            </a:pPr>
            <a:r>
              <a:t>HIGHER NATIONAL DIPLOMA (HND) FINAL DEFENSE | SEPTEMBER 2026</a:t>
            </a:r>
          </a:p>
        </p:txBody>
      </p:sp>
      <p:sp>
        <p:nvSpPr>
          <p:cNvPr id="4" name="TextBox 3"/>
          <p:cNvSpPr txBox="1"/>
          <p:nvPr/>
        </p:nvSpPr>
        <p:spPr>
          <a:xfrm>
            <a:off x="1097280" y="1371600"/>
            <a:ext cx="10058400" cy="1188720"/>
          </a:xfrm>
          <a:prstGeom prst="rect">
            <a:avLst/>
          </a:prstGeom>
          <a:noFill/>
        </p:spPr>
        <p:txBody>
          <a:bodyPr wrap="square">
            <a:spAutoFit/>
          </a:bodyPr>
          <a:lstStyle/>
          <a:p>
            <a:pPr>
              <a:defRPr sz="2500" b="1">
                <a:solidFill>
                  <a:srgbClr val="FFFFFF"/>
                </a:solidFill>
              </a:defRPr>
            </a:pPr>
            <a:r>
              <a:t>DYNAMIC TRAFFIC ROUTING IN SOFTWARE-DEFINED NETWORKS USING DEEP REINFORCEMENT LEARNING</a:t>
            </a:r>
          </a:p>
        </p:txBody>
      </p:sp>
      <p:sp>
        <p:nvSpPr>
          <p:cNvPr id="5" name="TextBox 4"/>
          <p:cNvSpPr txBox="1"/>
          <p:nvPr/>
        </p:nvSpPr>
        <p:spPr>
          <a:xfrm>
            <a:off x="1097280" y="2651760"/>
            <a:ext cx="10058400" cy="548640"/>
          </a:xfrm>
          <a:prstGeom prst="rect">
            <a:avLst/>
          </a:prstGeom>
          <a:noFill/>
        </p:spPr>
        <p:txBody>
          <a:bodyPr wrap="none">
            <a:spAutoFit/>
          </a:bodyPr>
          <a:lstStyle/>
          <a:p>
            <a:pPr>
              <a:defRPr sz="1700" b="1">
                <a:solidFill>
                  <a:srgbClr val="00A8CC"/>
                </a:solidFill>
              </a:defRPr>
            </a:pPr>
            <a:r>
              <a:t>GARRO: Graph-Attention Reinforcement Routing Orchestrator</a:t>
            </a:r>
          </a:p>
        </p:txBody>
      </p:sp>
      <p:sp>
        <p:nvSpPr>
          <p:cNvPr id="6" name="Rectangle 5"/>
          <p:cNvSpPr/>
          <p:nvPr/>
        </p:nvSpPr>
        <p:spPr>
          <a:xfrm>
            <a:off x="1097280" y="3291840"/>
            <a:ext cx="9966960" cy="27432"/>
          </a:xfrm>
          <a:prstGeom prst="rect">
            <a:avLst/>
          </a:prstGeom>
          <a:solidFill>
            <a:srgbClr val="285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20440"/>
            <a:ext cx="4754880" cy="2194560"/>
          </a:xfrm>
          <a:prstGeom prst="rect">
            <a:avLst/>
          </a:prstGeom>
          <a:noFill/>
        </p:spPr>
        <p:txBody>
          <a:bodyPr wrap="square">
            <a:spAutoFit/>
          </a:bodyPr>
          <a:lstStyle/>
          <a:p>
            <a:pPr>
              <a:defRPr sz="1000" b="1">
                <a:solidFill>
                  <a:srgbClr val="00A8CC"/>
                </a:solidFill>
              </a:defRPr>
            </a:pPr>
            <a:r>
              <a:t>PRESENTED BY:</a:t>
            </a:r>
          </a:p>
          <a:p>
            <a:pPr>
              <a:defRPr sz="1500" b="1">
                <a:solidFill>
                  <a:srgbClr val="FFFFFF"/>
                </a:solidFill>
              </a:defRPr>
            </a:pPr>
            <a:r>
              <a:t>AGBENI DANIEL OLUWAFEMI</a:t>
            </a:r>
          </a:p>
          <a:p>
            <a:pPr>
              <a:defRPr sz="1200">
                <a:solidFill>
                  <a:srgbClr val="C8D7E6"/>
                </a:solidFill>
              </a:defRPr>
            </a:pPr>
            <a:r>
              <a:t>Matriculation No: FPA/CS/24/3-0006</a:t>
            </a:r>
          </a:p>
          <a:p>
            <a:br/>
            <a:pPr>
              <a:defRPr sz="1100">
                <a:solidFill>
                  <a:srgbClr val="A0B9D2"/>
                </a:solidFill>
              </a:defRPr>
            </a:pPr>
            <a:r>
              <a:t>Supervisor: Engr. Dr. Fele Taiwo</a:t>
            </a:r>
            <a:br/>
            <a:r>
              <a:t>Project Support: Mr. Olufemi Ojo</a:t>
            </a:r>
          </a:p>
        </p:txBody>
      </p:sp>
      <p:sp>
        <p:nvSpPr>
          <p:cNvPr id="8" name="TextBox 7"/>
          <p:cNvSpPr txBox="1"/>
          <p:nvPr/>
        </p:nvSpPr>
        <p:spPr>
          <a:xfrm>
            <a:off x="6217920" y="3520440"/>
            <a:ext cx="4846320" cy="2194560"/>
          </a:xfrm>
          <a:prstGeom prst="rect">
            <a:avLst/>
          </a:prstGeom>
          <a:noFill/>
        </p:spPr>
        <p:txBody>
          <a:bodyPr wrap="square">
            <a:spAutoFit/>
          </a:bodyPr>
          <a:lstStyle/>
          <a:p>
            <a:pPr>
              <a:defRPr sz="1000" b="1">
                <a:solidFill>
                  <a:srgbClr val="00A8CC"/>
                </a:solidFill>
              </a:defRPr>
            </a:pPr>
            <a:r>
              <a:t>INSTITUTION &amp; DEPARTMENT:</a:t>
            </a:r>
          </a:p>
          <a:p>
            <a:pPr>
              <a:defRPr sz="1300" b="1">
                <a:solidFill>
                  <a:srgbClr val="FFFFFF"/>
                </a:solidFill>
              </a:defRPr>
            </a:pPr>
            <a:r>
              <a:t>Department of Networking and Cloud Computing</a:t>
            </a:r>
          </a:p>
          <a:p>
            <a:pPr>
              <a:defRPr sz="1100">
                <a:solidFill>
                  <a:srgbClr val="C8D7E6"/>
                </a:solidFill>
              </a:defRPr>
            </a:pPr>
            <a:r>
              <a:t>School of Computing, Information and Communication Technology</a:t>
            </a:r>
            <a:br/>
            <a:r>
              <a:t>The Federal Polytechnic, Ado-Ekiti, Ekiti State, Nigeria</a:t>
            </a:r>
          </a:p>
          <a:p>
            <a:br/>
            <a:pPr>
              <a:defRPr sz="1000" i="1">
                <a:solidFill>
                  <a:srgbClr val="8CAAC8"/>
                </a:solidFill>
              </a:defRPr>
            </a:pPr>
            <a:r>
              <a:t>A Practical Defense on AI-Orchestrated Next-Generation SDN Routing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BACKGROUND &amp; MOTIVATION</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Background of the Study: The Dynamic Traffic Challenge</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Modern carrier and cloud backbones require intelligent routing capable of real-time adaptation.</a:t>
            </a:r>
          </a:p>
        </p:txBody>
      </p:sp>
      <p:sp>
        <p:nvSpPr>
          <p:cNvPr id="5" name="Rounded Rectangle 4"/>
          <p:cNvSpPr/>
          <p:nvPr/>
        </p:nvSpPr>
        <p:spPr>
          <a:xfrm>
            <a:off x="731520" y="1645920"/>
            <a:ext cx="512064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500" b="1">
                <a:solidFill>
                  <a:srgbClr val="0B192C"/>
                </a:solidFill>
              </a:defRPr>
            </a:pPr>
            <a:r>
              <a:t>Key Network Realities</a:t>
            </a:r>
          </a:p>
          <a:p>
            <a:pPr>
              <a:spcBef>
                <a:spcPts val="800"/>
              </a:spcBef>
              <a:defRPr sz="1100"/>
            </a:pPr>
            <a:r>
              <a:rPr b="1">
                <a:solidFill>
                  <a:srgbClr val="1A3D5F"/>
                </a:solidFill>
              </a:rPr>
              <a:t>• Explosive, Unpredictable Traffic Demands:</a:t>
            </a:r>
            <a:r>
              <a:rPr>
                <a:solidFill>
                  <a:srgbClr val="475569"/>
                </a:solidFill>
              </a:rPr>
              <a:t> The rapid rise of 5G/6G, IoT ecosystems, cloud computing, and interactive media produces highly volatile, bursty Poisson traffic surges.</a:t>
            </a:r>
          </a:p>
          <a:p>
            <a:pPr>
              <a:spcBef>
                <a:spcPts val="800"/>
              </a:spcBef>
              <a:defRPr sz="1100"/>
            </a:pPr>
            <a:r>
              <a:rPr b="1">
                <a:solidFill>
                  <a:srgbClr val="1A3D5F"/>
                </a:solidFill>
              </a:rPr>
              <a:t>• OSPF Metric Rigidity:</a:t>
            </a:r>
            <a:r>
              <a:rPr>
                <a:solidFill>
                  <a:srgbClr val="475569"/>
                </a:solidFill>
              </a:rPr>
              <a:t> Traditional protocols like Open Shortest Path First (OSPF) rely on static, hop-count or link-cost Dijkstra calculations. They cannot sense transient interface queue saturation.</a:t>
            </a:r>
          </a:p>
          <a:p>
            <a:pPr>
              <a:spcBef>
                <a:spcPts val="800"/>
              </a:spcBef>
              <a:defRPr sz="1100"/>
            </a:pPr>
            <a:r>
              <a:rPr b="1">
                <a:solidFill>
                  <a:srgbClr val="1A3D5F"/>
                </a:solidFill>
              </a:rPr>
              <a:t>• ECMP Hash Collisions:</a:t>
            </a:r>
            <a:r>
              <a:rPr>
                <a:solidFill>
                  <a:srgbClr val="475569"/>
                </a:solidFill>
              </a:rPr>
              <a:t> Equal-Cost Multi-Path (ECMP) hashes 5-tuples statically. When multiple 'elephant flows' hash to the same path, critical links suffer acute bottlenecks while parallel links stay idle.</a:t>
            </a:r>
          </a:p>
          <a:p>
            <a:pPr>
              <a:spcBef>
                <a:spcPts val="800"/>
              </a:spcBef>
              <a:defRPr sz="1100"/>
            </a:pPr>
            <a:r>
              <a:rPr b="1">
                <a:solidFill>
                  <a:srgbClr val="1A3D5F"/>
                </a:solidFill>
              </a:rPr>
              <a:t>• Severe QoS Consequences:</a:t>
            </a:r>
            <a:r>
              <a:rPr>
                <a:solidFill>
                  <a:srgbClr val="475569"/>
                </a:solidFill>
              </a:rPr>
              <a:t> Traffic convergence on central bottleneck links results in packet drops, high end-to-end latency, jitter, and severe SLA violations.</a:t>
            </a:r>
          </a:p>
        </p:txBody>
      </p:sp>
      <p:sp>
        <p:nvSpPr>
          <p:cNvPr id="7" name="Rounded Rectangle 6"/>
          <p:cNvSpPr/>
          <p:nvPr/>
        </p:nvSpPr>
        <p:spPr>
          <a:xfrm>
            <a:off x="6217920" y="164592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97680"/>
          </a:xfrm>
          <a:prstGeom prst="rect">
            <a:avLst/>
          </a:prstGeom>
          <a:noFill/>
        </p:spPr>
        <p:txBody>
          <a:bodyPr wrap="square">
            <a:spAutoFit/>
          </a:bodyPr>
          <a:lstStyle/>
          <a:p>
            <a:pPr>
              <a:defRPr sz="1500" b="1">
                <a:solidFill>
                  <a:srgbClr val="0B192C"/>
                </a:solidFill>
              </a:defRPr>
            </a:pPr>
            <a:r>
              <a:t>Routing Paradigm Contrast</a:t>
            </a:r>
          </a:p>
        </p:txBody>
      </p:sp>
      <p:sp>
        <p:nvSpPr>
          <p:cNvPr id="9" name="Rounded Rectangle 8"/>
          <p:cNvSpPr/>
          <p:nvPr/>
        </p:nvSpPr>
        <p:spPr>
          <a:xfrm>
            <a:off x="6400800" y="2286000"/>
            <a:ext cx="4846320" cy="17373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377440"/>
            <a:ext cx="4572000" cy="1554480"/>
          </a:xfrm>
          <a:prstGeom prst="rect">
            <a:avLst/>
          </a:prstGeom>
          <a:noFill/>
        </p:spPr>
        <p:txBody>
          <a:bodyPr wrap="square">
            <a:spAutoFit/>
          </a:bodyPr>
          <a:lstStyle/>
          <a:p>
            <a:pPr>
              <a:defRPr sz="1100" b="1">
                <a:solidFill>
                  <a:srgbClr val="E11D48"/>
                </a:solidFill>
              </a:defRPr>
            </a:pPr>
            <a:r>
              <a:t>TRADITIONAL ROUTING (OSPF / ECMP)</a:t>
            </a:r>
          </a:p>
          <a:p>
            <a:pPr>
              <a:defRPr sz="1000">
                <a:solidFill>
                  <a:srgbClr val="0F172A"/>
                </a:solidFill>
              </a:defRPr>
            </a:pPr>
            <a:r>
              <a:t>Traffic Ingress  →  Fixed Shortest Path / Static Hash  →  Congested Central Bottlenecks  →  Severe Packet Drops &amp; 14.8 ms Latency</a:t>
            </a:r>
          </a:p>
        </p:txBody>
      </p:sp>
      <p:sp>
        <p:nvSpPr>
          <p:cNvPr id="11" name="Rounded Rectangle 10"/>
          <p:cNvSpPr/>
          <p:nvPr/>
        </p:nvSpPr>
        <p:spPr>
          <a:xfrm>
            <a:off x="6400800" y="4297680"/>
            <a:ext cx="4846320" cy="1737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389120"/>
            <a:ext cx="4572000" cy="1554480"/>
          </a:xfrm>
          <a:prstGeom prst="rect">
            <a:avLst/>
          </a:prstGeom>
          <a:noFill/>
        </p:spPr>
        <p:txBody>
          <a:bodyPr wrap="square">
            <a:spAutoFit/>
          </a:bodyPr>
          <a:lstStyle/>
          <a:p>
            <a:pPr>
              <a:defRPr sz="1100" b="1">
                <a:solidFill>
                  <a:srgbClr val="10956C"/>
                </a:solidFill>
              </a:defRPr>
            </a:pPr>
            <a:r>
              <a:t>INTELLIGENT ROUTING (GARRO)</a:t>
            </a:r>
          </a:p>
          <a:p>
            <a:pPr>
              <a:defRPr sz="1000">
                <a:solidFill>
                  <a:srgbClr val="0F172A"/>
                </a:solidFill>
              </a:defRPr>
            </a:pPr>
            <a:r>
              <a:t>Global Network Telemetry  →  Graph Transformer State Embedding  →  PPO Adaptive Multi-Objective Decision  →  Balanced Paths (&lt; 8.2 ms Latency, 0.00% Loss)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RESEARCH CHALLENGE</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Problem Statement</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Three critical operational bottlenecks hinder existing network routing paradigms.</a:t>
            </a:r>
          </a:p>
        </p:txBody>
      </p:sp>
      <p:sp>
        <p:nvSpPr>
          <p:cNvPr id="5" name="Rounded Rectangle 4"/>
          <p:cNvSpPr/>
          <p:nvPr/>
        </p:nvSpPr>
        <p:spPr>
          <a:xfrm>
            <a:off x="731520" y="1645920"/>
            <a:ext cx="3328416"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3054096" cy="3017520"/>
          </a:xfrm>
          <a:prstGeom prst="rect">
            <a:avLst/>
          </a:prstGeom>
          <a:noFill/>
        </p:spPr>
        <p:txBody>
          <a:bodyPr wrap="square">
            <a:spAutoFit/>
          </a:bodyPr>
          <a:lstStyle/>
          <a:p>
            <a:pPr>
              <a:defRPr sz="1300" b="1">
                <a:solidFill>
                  <a:srgbClr val="0B192C"/>
                </a:solidFill>
              </a:defRPr>
            </a:pPr>
            <a:r>
              <a:t>01. Limited Real-Time Awareness</a:t>
            </a:r>
          </a:p>
          <a:p>
            <a:pPr>
              <a:spcBef>
                <a:spcPts val="800"/>
              </a:spcBef>
              <a:defRPr sz="1050">
                <a:solidFill>
                  <a:srgbClr val="475569"/>
                </a:solidFill>
              </a:defRPr>
            </a:pPr>
            <a:r>
              <a:t>OSPF and link-state protocols compute forwarding tables based on quasi-static metrics (hop-count, bandwidth). They fail to continuously adapt to instantaneous queue depths, buffer occupancy, and transient delay spikes in real time.</a:t>
            </a:r>
          </a:p>
        </p:txBody>
      </p:sp>
      <p:sp>
        <p:nvSpPr>
          <p:cNvPr id="7" name="Rounded Rectangle 6"/>
          <p:cNvSpPr/>
          <p:nvPr/>
        </p:nvSpPr>
        <p:spPr>
          <a:xfrm>
            <a:off x="4425696" y="1645920"/>
            <a:ext cx="3328416"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783080"/>
            <a:ext cx="3054096" cy="3017520"/>
          </a:xfrm>
          <a:prstGeom prst="rect">
            <a:avLst/>
          </a:prstGeom>
          <a:noFill/>
        </p:spPr>
        <p:txBody>
          <a:bodyPr wrap="square">
            <a:spAutoFit/>
          </a:bodyPr>
          <a:lstStyle/>
          <a:p>
            <a:pPr>
              <a:defRPr sz="1300" b="1">
                <a:solidFill>
                  <a:srgbClr val="0B192C"/>
                </a:solidFill>
              </a:defRPr>
            </a:pPr>
            <a:r>
              <a:t>02. Static Multi-Path Splitting</a:t>
            </a:r>
          </a:p>
          <a:p>
            <a:pPr>
              <a:spcBef>
                <a:spcPts val="800"/>
              </a:spcBef>
              <a:defRPr sz="1050">
                <a:solidFill>
                  <a:srgbClr val="475569"/>
                </a:solidFill>
              </a:defRPr>
            </a:pPr>
            <a:r>
              <a:t>ECMP distributes flows via modulo hashing of 5-tuple packet headers. Because it is unaware of flow volumes, elephant flows frequently collide onto the same physical egress port, causing acute buffer overflow while alternate paths remain idle.</a:t>
            </a:r>
          </a:p>
        </p:txBody>
      </p:sp>
      <p:sp>
        <p:nvSpPr>
          <p:cNvPr id="9" name="Rounded Rectangle 8"/>
          <p:cNvSpPr/>
          <p:nvPr/>
        </p:nvSpPr>
        <p:spPr>
          <a:xfrm>
            <a:off x="8119872" y="1645920"/>
            <a:ext cx="3328416"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1" y="1783080"/>
            <a:ext cx="3054096" cy="3017520"/>
          </a:xfrm>
          <a:prstGeom prst="rect">
            <a:avLst/>
          </a:prstGeom>
          <a:noFill/>
        </p:spPr>
        <p:txBody>
          <a:bodyPr wrap="square">
            <a:spAutoFit/>
          </a:bodyPr>
          <a:lstStyle/>
          <a:p>
            <a:pPr>
              <a:defRPr sz="1300" b="1">
                <a:solidFill>
                  <a:srgbClr val="0B192C"/>
                </a:solidFill>
              </a:defRPr>
            </a:pPr>
            <a:r>
              <a:t>03. DRL Deployment Hazards</a:t>
            </a:r>
          </a:p>
          <a:p>
            <a:pPr>
              <a:spcBef>
                <a:spcPts val="800"/>
              </a:spcBef>
              <a:defRPr sz="1050">
                <a:solidFill>
                  <a:srgbClr val="475569"/>
                </a:solidFill>
              </a:defRPr>
            </a:pPr>
            <a:r>
              <a:t>Applying Deep Reinforcement Learning directly to live networks causes catastrophic exploration drops. Furthermore, standard neural networks (MLPs/CNNs) assume fixed-size inputs and cannot generalize when network topologies change.</a:t>
            </a:r>
          </a:p>
        </p:txBody>
      </p:sp>
      <p:sp>
        <p:nvSpPr>
          <p:cNvPr id="11" name="Rounded Rectangle 10"/>
          <p:cNvSpPr/>
          <p:nvPr/>
        </p:nvSpPr>
        <p:spPr>
          <a:xfrm>
            <a:off x="731520" y="5166360"/>
            <a:ext cx="10716768" cy="1234440"/>
          </a:xfrm>
          <a:prstGeom prst="round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57800"/>
            <a:ext cx="10332720" cy="1051560"/>
          </a:xfrm>
          <a:prstGeom prst="rect">
            <a:avLst/>
          </a:prstGeom>
          <a:noFill/>
        </p:spPr>
        <p:txBody>
          <a:bodyPr wrap="square">
            <a:spAutoFit/>
          </a:bodyPr>
          <a:lstStyle/>
          <a:p>
            <a:pPr>
              <a:defRPr sz="1000" b="1">
                <a:solidFill>
                  <a:srgbClr val="00A8CC"/>
                </a:solidFill>
              </a:defRPr>
            </a:pPr>
            <a:r>
              <a:t>THE CORE RESEARCH CHALLENGE:</a:t>
            </a:r>
          </a:p>
          <a:p>
            <a:pPr>
              <a:spcBef>
                <a:spcPts val="400"/>
              </a:spcBef>
              <a:defRPr sz="1200" b="1">
                <a:solidFill>
                  <a:srgbClr val="FFFFFF"/>
                </a:solidFill>
              </a:defRPr>
            </a:pPr>
            <a:r>
              <a:t>To develop a routing architecture that can understand dynamic network topology, react continuously to traffic conditions, learn stable policies safely without risking live carrier networks, and bridge high-level operator intent with low-level OpenFlow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PROJECT SCOPE &amp; GOALS</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Aim and Specific Objectives</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Designing, developing, and evaluating the hybrid GARRO architecture.</a:t>
            </a:r>
          </a:p>
        </p:txBody>
      </p:sp>
      <p:sp>
        <p:nvSpPr>
          <p:cNvPr id="5" name="Rounded Rectangle 4"/>
          <p:cNvSpPr/>
          <p:nvPr/>
        </p:nvSpPr>
        <p:spPr>
          <a:xfrm>
            <a:off x="731520" y="1645920"/>
            <a:ext cx="10716768" cy="109728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32720" cy="914400"/>
          </a:xfrm>
          <a:prstGeom prst="rect">
            <a:avLst/>
          </a:prstGeom>
          <a:noFill/>
        </p:spPr>
        <p:txBody>
          <a:bodyPr wrap="square">
            <a:spAutoFit/>
          </a:bodyPr>
          <a:lstStyle/>
          <a:p>
            <a:pPr>
              <a:defRPr sz="1000" b="1">
                <a:solidFill>
                  <a:srgbClr val="1A3D5F"/>
                </a:solidFill>
              </a:defRPr>
            </a:pPr>
            <a:r>
              <a:t>PROJECT AIM:</a:t>
            </a:r>
          </a:p>
          <a:p>
            <a:pPr>
              <a:spcBef>
                <a:spcPts val="300"/>
              </a:spcBef>
              <a:defRPr sz="1300" b="1">
                <a:solidFill>
                  <a:srgbClr val="0B192C"/>
                </a:solidFill>
              </a:defRPr>
            </a:pPr>
            <a:r>
              <a:t>To design, develop, and evaluate a hybrid intelligent routing architecture—GARRO (Graph-Attention Reinforcement Routing Orchestrator)—for dynamic Software-Defined Networks.</a:t>
            </a:r>
          </a:p>
        </p:txBody>
      </p:sp>
      <p:sp>
        <p:nvSpPr>
          <p:cNvPr id="7" name="Rounded Rectangle 6"/>
          <p:cNvSpPr/>
          <p:nvPr/>
        </p:nvSpPr>
        <p:spPr>
          <a:xfrm>
            <a:off x="731520" y="2971800"/>
            <a:ext cx="1993392"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081528"/>
            <a:ext cx="1773936" cy="3072384"/>
          </a:xfrm>
          <a:prstGeom prst="rect">
            <a:avLst/>
          </a:prstGeom>
          <a:noFill/>
        </p:spPr>
        <p:txBody>
          <a:bodyPr wrap="square">
            <a:spAutoFit/>
          </a:bodyPr>
          <a:lstStyle/>
          <a:p>
            <a:pPr>
              <a:defRPr sz="1800" b="1">
                <a:solidFill>
                  <a:srgbClr val="00A8CC"/>
                </a:solidFill>
              </a:defRPr>
            </a:pPr>
            <a:r>
              <a:t>01</a:t>
            </a:r>
          </a:p>
          <a:p>
            <a:pPr>
              <a:spcBef>
                <a:spcPts val="400"/>
              </a:spcBef>
              <a:defRPr sz="1100" b="1">
                <a:solidFill>
                  <a:srgbClr val="0B192C"/>
                </a:solidFill>
              </a:defRPr>
            </a:pPr>
            <a:r>
              <a:t>MDP Formulation</a:t>
            </a:r>
          </a:p>
          <a:p>
            <a:pPr>
              <a:spcBef>
                <a:spcPts val="600"/>
              </a:spcBef>
              <a:defRPr sz="950">
                <a:solidFill>
                  <a:srgbClr val="475569"/>
                </a:solidFill>
              </a:defRPr>
            </a:pPr>
            <a:r>
              <a:t>Formulate dynamic SDN routing as a multi-objective Markov Decision Process balancing throughput, delay, packet loss, and load variance.</a:t>
            </a:r>
          </a:p>
        </p:txBody>
      </p:sp>
      <p:sp>
        <p:nvSpPr>
          <p:cNvPr id="9" name="Rounded Rectangle 8"/>
          <p:cNvSpPr/>
          <p:nvPr/>
        </p:nvSpPr>
        <p:spPr>
          <a:xfrm>
            <a:off x="2907792" y="2971800"/>
            <a:ext cx="1993392"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3081528"/>
            <a:ext cx="1773936" cy="3072384"/>
          </a:xfrm>
          <a:prstGeom prst="rect">
            <a:avLst/>
          </a:prstGeom>
          <a:noFill/>
        </p:spPr>
        <p:txBody>
          <a:bodyPr wrap="square">
            <a:spAutoFit/>
          </a:bodyPr>
          <a:lstStyle/>
          <a:p>
            <a:pPr>
              <a:defRPr sz="1800" b="1">
                <a:solidFill>
                  <a:srgbClr val="00A8CC"/>
                </a:solidFill>
              </a:defRPr>
            </a:pPr>
            <a:r>
              <a:t>02</a:t>
            </a:r>
          </a:p>
          <a:p>
            <a:pPr>
              <a:spcBef>
                <a:spcPts val="400"/>
              </a:spcBef>
              <a:defRPr sz="1100" b="1">
                <a:solidFill>
                  <a:srgbClr val="0B192C"/>
                </a:solidFill>
              </a:defRPr>
            </a:pPr>
            <a:r>
              <a:t>Intelligent Engine</a:t>
            </a:r>
          </a:p>
          <a:p>
            <a:pPr>
              <a:spcBef>
                <a:spcPts val="600"/>
              </a:spcBef>
              <a:defRPr sz="950">
                <a:solidFill>
                  <a:srgbClr val="475569"/>
                </a:solidFill>
              </a:defRPr>
            </a:pPr>
            <a:r>
              <a:t>Design a hybrid Graph Transformer + Proximal Policy Optimization (PPO) model for topology-agnostic path selection.</a:t>
            </a:r>
          </a:p>
        </p:txBody>
      </p:sp>
      <p:sp>
        <p:nvSpPr>
          <p:cNvPr id="11" name="Rounded Rectangle 10"/>
          <p:cNvSpPr/>
          <p:nvPr/>
        </p:nvSpPr>
        <p:spPr>
          <a:xfrm>
            <a:off x="5084064" y="2971800"/>
            <a:ext cx="1993392"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93792" y="3081528"/>
            <a:ext cx="1773936" cy="3072384"/>
          </a:xfrm>
          <a:prstGeom prst="rect">
            <a:avLst/>
          </a:prstGeom>
          <a:noFill/>
        </p:spPr>
        <p:txBody>
          <a:bodyPr wrap="square">
            <a:spAutoFit/>
          </a:bodyPr>
          <a:lstStyle/>
          <a:p>
            <a:pPr>
              <a:defRPr sz="1800" b="1">
                <a:solidFill>
                  <a:srgbClr val="00A8CC"/>
                </a:solidFill>
              </a:defRPr>
            </a:pPr>
            <a:r>
              <a:t>03</a:t>
            </a:r>
          </a:p>
          <a:p>
            <a:pPr>
              <a:spcBef>
                <a:spcPts val="400"/>
              </a:spcBef>
              <a:defRPr sz="1100" b="1">
                <a:solidFill>
                  <a:srgbClr val="0B192C"/>
                </a:solidFill>
              </a:defRPr>
            </a:pPr>
            <a:r>
              <a:t>Safe Digital Twin</a:t>
            </a:r>
          </a:p>
          <a:p>
            <a:pPr>
              <a:spcBef>
                <a:spcPts val="600"/>
              </a:spcBef>
              <a:defRPr sz="950">
                <a:solidFill>
                  <a:srgbClr val="475569"/>
                </a:solidFill>
              </a:defRPr>
            </a:pPr>
            <a:r>
              <a:t>Construct an offline M/M/1/K queuing theory network digital twin to train the agent safely without risking live networks.</a:t>
            </a:r>
          </a:p>
        </p:txBody>
      </p:sp>
      <p:sp>
        <p:nvSpPr>
          <p:cNvPr id="13" name="Rounded Rectangle 12"/>
          <p:cNvSpPr/>
          <p:nvPr/>
        </p:nvSpPr>
        <p:spPr>
          <a:xfrm>
            <a:off x="7260336" y="2971800"/>
            <a:ext cx="1993392"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3081528"/>
            <a:ext cx="1773936" cy="3072384"/>
          </a:xfrm>
          <a:prstGeom prst="rect">
            <a:avLst/>
          </a:prstGeom>
          <a:noFill/>
        </p:spPr>
        <p:txBody>
          <a:bodyPr wrap="square">
            <a:spAutoFit/>
          </a:bodyPr>
          <a:lstStyle/>
          <a:p>
            <a:pPr>
              <a:defRPr sz="1800" b="1">
                <a:solidFill>
                  <a:srgbClr val="00A8CC"/>
                </a:solidFill>
              </a:defRPr>
            </a:pPr>
            <a:r>
              <a:t>04</a:t>
            </a:r>
          </a:p>
          <a:p>
            <a:pPr>
              <a:spcBef>
                <a:spcPts val="400"/>
              </a:spcBef>
              <a:defRPr sz="1100" b="1">
                <a:solidFill>
                  <a:srgbClr val="0B192C"/>
                </a:solidFill>
              </a:defRPr>
            </a:pPr>
            <a:r>
              <a:t>Agentic AI Layer</a:t>
            </a:r>
          </a:p>
          <a:p>
            <a:pPr>
              <a:spcBef>
                <a:spcPts val="600"/>
              </a:spcBef>
              <a:defRPr sz="950">
                <a:solidFill>
                  <a:srgbClr val="475569"/>
                </a:solidFill>
              </a:defRPr>
            </a:pPr>
            <a:r>
              <a:t>Integrate an LLM-powered Agentic supervisory plane to translate natural language operator intent into reward weights in real time.</a:t>
            </a:r>
          </a:p>
        </p:txBody>
      </p:sp>
      <p:sp>
        <p:nvSpPr>
          <p:cNvPr id="15" name="Rounded Rectangle 14"/>
          <p:cNvSpPr/>
          <p:nvPr/>
        </p:nvSpPr>
        <p:spPr>
          <a:xfrm>
            <a:off x="9436608" y="2971800"/>
            <a:ext cx="1993392"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46336" y="3081528"/>
            <a:ext cx="1773936" cy="3072384"/>
          </a:xfrm>
          <a:prstGeom prst="rect">
            <a:avLst/>
          </a:prstGeom>
          <a:noFill/>
        </p:spPr>
        <p:txBody>
          <a:bodyPr wrap="square">
            <a:spAutoFit/>
          </a:bodyPr>
          <a:lstStyle/>
          <a:p>
            <a:pPr>
              <a:defRPr sz="1800" b="1">
                <a:solidFill>
                  <a:srgbClr val="00A8CC"/>
                </a:solidFill>
              </a:defRPr>
            </a:pPr>
            <a:r>
              <a:t>05</a:t>
            </a:r>
          </a:p>
          <a:p>
            <a:pPr>
              <a:spcBef>
                <a:spcPts val="400"/>
              </a:spcBef>
              <a:defRPr sz="1100" b="1">
                <a:solidFill>
                  <a:srgbClr val="0B192C"/>
                </a:solidFill>
              </a:defRPr>
            </a:pPr>
            <a:r>
              <a:t>Empirical Evaluation</a:t>
            </a:r>
          </a:p>
          <a:p>
            <a:pPr>
              <a:spcBef>
                <a:spcPts val="600"/>
              </a:spcBef>
              <a:defRPr sz="950">
                <a:solidFill>
                  <a:srgbClr val="475569"/>
                </a:solidFill>
              </a:defRPr>
            </a:pPr>
            <a:r>
              <a:t>Rigorously benchmark GARRO against OSPF, ECMP, and DQN across NSFNET, GEANT2, and Fat-Tree topologies under bursty workloads.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LITERATURE SYNTHESIS</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Existing Routing Approaches and Their Limitations</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A systematic comparison across traditional, heuristic, and machine learning routing methods.</a:t>
            </a:r>
          </a:p>
        </p:txBody>
      </p:sp>
      <p:graphicFrame>
        <p:nvGraphicFramePr>
          <p:cNvPr id="5" name="Table 4"/>
          <p:cNvGraphicFramePr>
            <a:graphicFrameLocks noGrp="1"/>
          </p:cNvGraphicFramePr>
          <p:nvPr/>
        </p:nvGraphicFramePr>
        <p:xfrm>
          <a:off x="731520" y="1645920"/>
          <a:ext cx="10716768" cy="3931920"/>
        </p:xfrm>
        <a:graphic>
          <a:graphicData uri="http://schemas.openxmlformats.org/drawingml/2006/table">
            <a:tbl>
              <a:tblPr firstRow="1" bandRow="1">
                <a:tableStyleId>{5C22544A-7EE6-4342-B048-85BDC9FD1C3A}</a:tableStyleId>
              </a:tblPr>
              <a:tblGrid>
                <a:gridCol w="1645920"/>
                <a:gridCol w="2011680"/>
                <a:gridCol w="3840480"/>
                <a:gridCol w="3218688"/>
              </a:tblGrid>
              <a:tr h="561702">
                <a:tc>
                  <a:txBody>
                    <a:bodyPr wrap="square" lIns="109728" rIns="109728" tIns="73152" bIns="73152"/>
                    <a:lstStyle/>
                    <a:p>
                      <a:pPr algn="l">
                        <a:defRPr sz="1000" b="1">
                          <a:solidFill>
                            <a:srgbClr val="FFFFFF"/>
                          </a:solidFill>
                          <a:latin typeface="Calibri"/>
                        </a:defRPr>
                      </a:pPr>
                      <a:r>
                        <a:t>Routing Paradigm</a:t>
                      </a:r>
                    </a:p>
                  </a:txBody>
                  <a:tcPr>
                    <a:solidFill>
                      <a:srgbClr val="0F2137"/>
                    </a:solidFill>
                  </a:tcPr>
                </a:tc>
                <a:tc>
                  <a:txBody>
                    <a:bodyPr wrap="square" lIns="109728" rIns="109728" tIns="73152" bIns="73152"/>
                    <a:lstStyle/>
                    <a:p>
                      <a:pPr algn="l">
                        <a:defRPr sz="1000" b="1">
                          <a:solidFill>
                            <a:srgbClr val="FFFFFF"/>
                          </a:solidFill>
                          <a:latin typeface="Calibri"/>
                        </a:defRPr>
                      </a:pPr>
                      <a:r>
                        <a:t>Representative Algorithm</a:t>
                      </a:r>
                    </a:p>
                  </a:txBody>
                  <a:tcPr>
                    <a:solidFill>
                      <a:srgbClr val="0F2137"/>
                    </a:solidFill>
                  </a:tcPr>
                </a:tc>
                <a:tc>
                  <a:txBody>
                    <a:bodyPr wrap="square" lIns="109728" rIns="109728" tIns="73152" bIns="73152"/>
                    <a:lstStyle/>
                    <a:p>
                      <a:pPr algn="l">
                        <a:defRPr sz="1000" b="1">
                          <a:solidFill>
                            <a:srgbClr val="FFFFFF"/>
                          </a:solidFill>
                          <a:latin typeface="Calibri"/>
                        </a:defRPr>
                      </a:pPr>
                      <a:r>
                        <a:t>Key Strengths</a:t>
                      </a:r>
                    </a:p>
                  </a:txBody>
                  <a:tcPr>
                    <a:solidFill>
                      <a:srgbClr val="0F2137"/>
                    </a:solidFill>
                  </a:tcPr>
                </a:tc>
                <a:tc>
                  <a:txBody>
                    <a:bodyPr wrap="square" lIns="109728" rIns="109728" tIns="73152" bIns="73152"/>
                    <a:lstStyle/>
                    <a:p>
                      <a:pPr algn="l">
                        <a:defRPr sz="1000" b="1">
                          <a:solidFill>
                            <a:srgbClr val="FFFFFF"/>
                          </a:solidFill>
                          <a:latin typeface="Calibri"/>
                        </a:defRPr>
                      </a:pPr>
                      <a:r>
                        <a:t>Critical Operational Limitations</a:t>
                      </a:r>
                    </a:p>
                  </a:txBody>
                  <a:tcPr>
                    <a:solidFill>
                      <a:srgbClr val="0F2137"/>
                    </a:solidFill>
                  </a:tcPr>
                </a:tc>
              </a:tr>
              <a:tr h="561702">
                <a:tc>
                  <a:txBody>
                    <a:bodyPr wrap="square" lIns="109728" rIns="109728" tIns="73152" bIns="73152"/>
                    <a:lstStyle/>
                    <a:p>
                      <a:pPr algn="l">
                        <a:defRPr sz="950" b="1">
                          <a:solidFill>
                            <a:srgbClr val="0B192C"/>
                          </a:solidFill>
                          <a:latin typeface="Calibri"/>
                        </a:defRPr>
                      </a:pPr>
                      <a:r>
                        <a:t>Shortest-Path Link State</a:t>
                      </a:r>
                    </a:p>
                  </a:txBody>
                  <a:tcPr>
                    <a:solidFill>
                      <a:srgbClr val="FFFFFF"/>
                    </a:solidFill>
                  </a:tcPr>
                </a:tc>
                <a:tc>
                  <a:txBody>
                    <a:bodyPr wrap="square" lIns="109728" rIns="109728" tIns="73152" bIns="73152"/>
                    <a:lstStyle/>
                    <a:p>
                      <a:pPr algn="l">
                        <a:defRPr sz="950" b="1">
                          <a:solidFill>
                            <a:srgbClr val="0B192C"/>
                          </a:solidFill>
                          <a:latin typeface="Calibri"/>
                        </a:defRPr>
                      </a:pPr>
                      <a:r>
                        <a:t>OSPF / IS-IS</a:t>
                      </a:r>
                    </a:p>
                  </a:txBody>
                  <a:tcPr>
                    <a:solidFill>
                      <a:srgbClr val="FFFFFF"/>
                    </a:solidFill>
                  </a:tcPr>
                </a:tc>
                <a:tc>
                  <a:txBody>
                    <a:bodyPr wrap="square" lIns="109728" rIns="109728" tIns="73152" bIns="73152"/>
                    <a:lstStyle/>
                    <a:p>
                      <a:pPr algn="l">
                        <a:defRPr sz="950" b="0">
                          <a:solidFill>
                            <a:srgbClr val="0F172A"/>
                          </a:solidFill>
                          <a:latin typeface="Calibri"/>
                        </a:defRPr>
                      </a:pPr>
                      <a:r>
                        <a:t>Low control overhead, deterministic loop-free paths</a:t>
                      </a:r>
                    </a:p>
                  </a:txBody>
                  <a:tcPr>
                    <a:solidFill>
                      <a:srgbClr val="FFFFFF"/>
                    </a:solidFill>
                  </a:tcPr>
                </a:tc>
                <a:tc>
                  <a:txBody>
                    <a:bodyPr wrap="square" lIns="109728" rIns="109728" tIns="73152" bIns="73152"/>
                    <a:lstStyle/>
                    <a:p>
                      <a:pPr algn="l">
                        <a:defRPr sz="950" b="0">
                          <a:solidFill>
                            <a:srgbClr val="0F172A"/>
                          </a:solidFill>
                          <a:latin typeface="Calibri"/>
                        </a:defRPr>
                      </a:pPr>
                      <a:r>
                        <a:t>Congestion-blind; repeatedly saturates central links during surges.</a:t>
                      </a:r>
                    </a:p>
                  </a:txBody>
                  <a:tcPr>
                    <a:solidFill>
                      <a:srgbClr val="FFFFFF"/>
                    </a:solidFill>
                  </a:tcPr>
                </a:tc>
              </a:tr>
              <a:tr h="561702">
                <a:tc>
                  <a:txBody>
                    <a:bodyPr wrap="square" lIns="109728" rIns="109728" tIns="73152" bIns="73152"/>
                    <a:lstStyle/>
                    <a:p>
                      <a:pPr algn="l">
                        <a:defRPr sz="950" b="1">
                          <a:solidFill>
                            <a:srgbClr val="0B192C"/>
                          </a:solidFill>
                          <a:latin typeface="Calibri"/>
                        </a:defRPr>
                      </a:pPr>
                      <a:r>
                        <a:t>Static Multi-Path</a:t>
                      </a:r>
                    </a:p>
                  </a:txBody>
                  <a:tcPr>
                    <a:solidFill>
                      <a:srgbClr val="F8FAFC"/>
                    </a:solidFill>
                  </a:tcPr>
                </a:tc>
                <a:tc>
                  <a:txBody>
                    <a:bodyPr wrap="square" lIns="109728" rIns="109728" tIns="73152" bIns="73152"/>
                    <a:lstStyle/>
                    <a:p>
                      <a:pPr algn="l">
                        <a:defRPr sz="950" b="1">
                          <a:solidFill>
                            <a:srgbClr val="0B192C"/>
                          </a:solidFill>
                          <a:latin typeface="Calibri"/>
                        </a:defRPr>
                      </a:pPr>
                      <a:r>
                        <a:t>ECMP</a:t>
                      </a:r>
                    </a:p>
                  </a:txBody>
                  <a:tcPr>
                    <a:solidFill>
                      <a:srgbClr val="F8FAFC"/>
                    </a:solidFill>
                  </a:tcPr>
                </a:tc>
                <a:tc>
                  <a:txBody>
                    <a:bodyPr wrap="square" lIns="109728" rIns="109728" tIns="73152" bIns="73152"/>
                    <a:lstStyle/>
                    <a:p>
                      <a:pPr algn="l">
                        <a:defRPr sz="950" b="0">
                          <a:solidFill>
                            <a:srgbClr val="0F172A"/>
                          </a:solidFill>
                          <a:latin typeface="Calibri"/>
                        </a:defRPr>
                      </a:pPr>
                      <a:r>
                        <a:t>Splits traffic across equal-cost paths</a:t>
                      </a:r>
                    </a:p>
                  </a:txBody>
                  <a:tcPr>
                    <a:solidFill>
                      <a:srgbClr val="F8FAFC"/>
                    </a:solidFill>
                  </a:tcPr>
                </a:tc>
                <a:tc>
                  <a:txBody>
                    <a:bodyPr wrap="square" lIns="109728" rIns="109728" tIns="73152" bIns="73152"/>
                    <a:lstStyle/>
                    <a:p>
                      <a:pPr algn="l">
                        <a:defRPr sz="950" b="0">
                          <a:solidFill>
                            <a:srgbClr val="0F172A"/>
                          </a:solidFill>
                          <a:latin typeface="Calibri"/>
                        </a:defRPr>
                      </a:pPr>
                      <a:r>
                        <a:t>Blind 5-tuple hashing causes elephant flow collisions and packet reordering.</a:t>
                      </a:r>
                    </a:p>
                  </a:txBody>
                  <a:tcPr>
                    <a:solidFill>
                      <a:srgbClr val="F8FAFC"/>
                    </a:solidFill>
                  </a:tcPr>
                </a:tc>
              </a:tr>
              <a:tr h="561702">
                <a:tc>
                  <a:txBody>
                    <a:bodyPr wrap="square" lIns="109728" rIns="109728" tIns="73152" bIns="73152"/>
                    <a:lstStyle/>
                    <a:p>
                      <a:pPr algn="l">
                        <a:defRPr sz="950" b="1">
                          <a:solidFill>
                            <a:srgbClr val="0B192C"/>
                          </a:solidFill>
                          <a:latin typeface="Calibri"/>
                        </a:defRPr>
                      </a:pPr>
                      <a:r>
                        <a:t>Tabular Reinforcement</a:t>
                      </a:r>
                    </a:p>
                  </a:txBody>
                  <a:tcPr>
                    <a:solidFill>
                      <a:srgbClr val="FFFFFF"/>
                    </a:solidFill>
                  </a:tcPr>
                </a:tc>
                <a:tc>
                  <a:txBody>
                    <a:bodyPr wrap="square" lIns="109728" rIns="109728" tIns="73152" bIns="73152"/>
                    <a:lstStyle/>
                    <a:p>
                      <a:pPr algn="l">
                        <a:defRPr sz="950" b="1">
                          <a:solidFill>
                            <a:srgbClr val="0B192C"/>
                          </a:solidFill>
                          <a:latin typeface="Calibri"/>
                        </a:defRPr>
                      </a:pPr>
                      <a:r>
                        <a:t>Q-Learning</a:t>
                      </a:r>
                    </a:p>
                  </a:txBody>
                  <a:tcPr>
                    <a:solidFill>
                      <a:srgbClr val="FFFFFF"/>
                    </a:solidFill>
                  </a:tcPr>
                </a:tc>
                <a:tc>
                  <a:txBody>
                    <a:bodyPr wrap="square" lIns="109728" rIns="109728" tIns="73152" bIns="73152"/>
                    <a:lstStyle/>
                    <a:p>
                      <a:pPr algn="l">
                        <a:defRPr sz="950" b="0">
                          <a:solidFill>
                            <a:srgbClr val="0F172A"/>
                          </a:solidFill>
                          <a:latin typeface="Calibri"/>
                        </a:defRPr>
                      </a:pPr>
                      <a:r>
                        <a:t>Learns dynamic state-action values</a:t>
                      </a:r>
                    </a:p>
                  </a:txBody>
                  <a:tcPr>
                    <a:solidFill>
                      <a:srgbClr val="FFFFFF"/>
                    </a:solidFill>
                  </a:tcPr>
                </a:tc>
                <a:tc>
                  <a:txBody>
                    <a:bodyPr wrap="square" lIns="109728" rIns="109728" tIns="73152" bIns="73152"/>
                    <a:lstStyle/>
                    <a:p>
                      <a:pPr algn="l">
                        <a:defRPr sz="950" b="0">
                          <a:solidFill>
                            <a:srgbClr val="0F172A"/>
                          </a:solidFill>
                          <a:latin typeface="Calibri"/>
                        </a:defRPr>
                      </a:pPr>
                      <a:r>
                        <a:t>State-action space explodes exponentially on topologies with &gt;5 nodes.</a:t>
                      </a:r>
                    </a:p>
                  </a:txBody>
                  <a:tcPr>
                    <a:solidFill>
                      <a:srgbClr val="FFFFFF"/>
                    </a:solidFill>
                  </a:tcPr>
                </a:tc>
              </a:tr>
              <a:tr h="561702">
                <a:tc>
                  <a:txBody>
                    <a:bodyPr wrap="square" lIns="109728" rIns="109728" tIns="73152" bIns="73152"/>
                    <a:lstStyle/>
                    <a:p>
                      <a:pPr algn="l">
                        <a:defRPr sz="950" b="1">
                          <a:solidFill>
                            <a:srgbClr val="0B192C"/>
                          </a:solidFill>
                          <a:latin typeface="Calibri"/>
                        </a:defRPr>
                      </a:pPr>
                      <a:r>
                        <a:t>Deep Q-Networks</a:t>
                      </a:r>
                    </a:p>
                  </a:txBody>
                  <a:tcPr>
                    <a:solidFill>
                      <a:srgbClr val="F8FAFC"/>
                    </a:solidFill>
                  </a:tcPr>
                </a:tc>
                <a:tc>
                  <a:txBody>
                    <a:bodyPr wrap="square" lIns="109728" rIns="109728" tIns="73152" bIns="73152"/>
                    <a:lstStyle/>
                    <a:p>
                      <a:pPr algn="l">
                        <a:defRPr sz="950" b="1">
                          <a:solidFill>
                            <a:srgbClr val="0B192C"/>
                          </a:solidFill>
                          <a:latin typeface="Calibri"/>
                        </a:defRPr>
                      </a:pPr>
                      <a:r>
                        <a:t>DQN / DDQN</a:t>
                      </a:r>
                    </a:p>
                  </a:txBody>
                  <a:tcPr>
                    <a:solidFill>
                      <a:srgbClr val="F8FAFC"/>
                    </a:solidFill>
                  </a:tcPr>
                </a:tc>
                <a:tc>
                  <a:txBody>
                    <a:bodyPr wrap="square" lIns="109728" rIns="109728" tIns="73152" bIns="73152"/>
                    <a:lstStyle/>
                    <a:p>
                      <a:pPr algn="l">
                        <a:defRPr sz="950" b="0">
                          <a:solidFill>
                            <a:srgbClr val="0F172A"/>
                          </a:solidFill>
                          <a:latin typeface="Calibri"/>
                        </a:defRPr>
                      </a:pPr>
                      <a:r>
                        <a:t>Handles high-dimensional state spaces</a:t>
                      </a:r>
                    </a:p>
                  </a:txBody>
                  <a:tcPr>
                    <a:solidFill>
                      <a:srgbClr val="F8FAFC"/>
                    </a:solidFill>
                  </a:tcPr>
                </a:tc>
                <a:tc>
                  <a:txBody>
                    <a:bodyPr wrap="square" lIns="109728" rIns="109728" tIns="73152" bIns="73152"/>
                    <a:lstStyle/>
                    <a:p>
                      <a:pPr algn="l">
                        <a:defRPr sz="950" b="0">
                          <a:solidFill>
                            <a:srgbClr val="0F172A"/>
                          </a:solidFill>
                          <a:latin typeface="Calibri"/>
                        </a:defRPr>
                      </a:pPr>
                      <a:r>
                        <a:t>Discrete actions; overestimates Q-values; slow non-monotonic convergence.</a:t>
                      </a:r>
                    </a:p>
                  </a:txBody>
                  <a:tcPr>
                    <a:solidFill>
                      <a:srgbClr val="F8FAFC"/>
                    </a:solidFill>
                  </a:tcPr>
                </a:tc>
              </a:tr>
              <a:tr h="561702">
                <a:tc>
                  <a:txBody>
                    <a:bodyPr wrap="square" lIns="109728" rIns="109728" tIns="73152" bIns="73152"/>
                    <a:lstStyle/>
                    <a:p>
                      <a:pPr algn="l">
                        <a:defRPr sz="950" b="1">
                          <a:solidFill>
                            <a:srgbClr val="0B192C"/>
                          </a:solidFill>
                          <a:latin typeface="Calibri"/>
                        </a:defRPr>
                      </a:pPr>
                      <a:r>
                        <a:t>Deterministic Actor-Critic</a:t>
                      </a:r>
                    </a:p>
                  </a:txBody>
                  <a:tcPr>
                    <a:solidFill>
                      <a:srgbClr val="FFFFFF"/>
                    </a:solidFill>
                  </a:tcPr>
                </a:tc>
                <a:tc>
                  <a:txBody>
                    <a:bodyPr wrap="square" lIns="109728" rIns="109728" tIns="73152" bIns="73152"/>
                    <a:lstStyle/>
                    <a:p>
                      <a:pPr algn="l">
                        <a:defRPr sz="950" b="1">
                          <a:solidFill>
                            <a:srgbClr val="0B192C"/>
                          </a:solidFill>
                          <a:latin typeface="Calibri"/>
                        </a:defRPr>
                      </a:pPr>
                      <a:r>
                        <a:t>DDPG</a:t>
                      </a:r>
                    </a:p>
                  </a:txBody>
                  <a:tcPr>
                    <a:solidFill>
                      <a:srgbClr val="FFFFFF"/>
                    </a:solidFill>
                  </a:tcPr>
                </a:tc>
                <a:tc>
                  <a:txBody>
                    <a:bodyPr wrap="square" lIns="109728" rIns="109728" tIns="73152" bIns="73152"/>
                    <a:lstStyle/>
                    <a:p>
                      <a:pPr algn="l">
                        <a:defRPr sz="950" b="0">
                          <a:solidFill>
                            <a:srgbClr val="0F172A"/>
                          </a:solidFill>
                          <a:latin typeface="Calibri"/>
                        </a:defRPr>
                      </a:pPr>
                      <a:r>
                        <a:t>Accommodates continuous action spaces</a:t>
                      </a:r>
                    </a:p>
                  </a:txBody>
                  <a:tcPr>
                    <a:solidFill>
                      <a:srgbClr val="FFFFFF"/>
                    </a:solidFill>
                  </a:tcPr>
                </a:tc>
                <a:tc>
                  <a:txBody>
                    <a:bodyPr wrap="square" lIns="109728" rIns="109728" tIns="73152" bIns="73152"/>
                    <a:lstStyle/>
                    <a:p>
                      <a:pPr algn="l">
                        <a:defRPr sz="950" b="0">
                          <a:solidFill>
                            <a:srgbClr val="0F172A"/>
                          </a:solidFill>
                          <a:latin typeface="Calibri"/>
                        </a:defRPr>
                      </a:pPr>
                      <a:r>
                        <a:t>Hyper-sensitive to hyperparameters; prone to policy collapse and Q-divergence.</a:t>
                      </a:r>
                    </a:p>
                  </a:txBody>
                  <a:tcPr>
                    <a:solidFill>
                      <a:srgbClr val="FFFFFF"/>
                    </a:solidFill>
                  </a:tcPr>
                </a:tc>
              </a:tr>
              <a:tr h="561708">
                <a:tc>
                  <a:txBody>
                    <a:bodyPr wrap="square" lIns="109728" rIns="109728" tIns="73152" bIns="73152"/>
                    <a:lstStyle/>
                    <a:p>
                      <a:pPr algn="l">
                        <a:defRPr sz="950" b="1">
                          <a:solidFill>
                            <a:srgbClr val="10956C"/>
                          </a:solidFill>
                          <a:latin typeface="Calibri"/>
                        </a:defRPr>
                      </a:pPr>
                      <a:r>
                        <a:t>Proximal Policy Optimization</a:t>
                      </a:r>
                    </a:p>
                  </a:txBody>
                  <a:tcPr>
                    <a:solidFill>
                      <a:srgbClr val="F0FDFA"/>
                    </a:solidFill>
                  </a:tcPr>
                </a:tc>
                <a:tc>
                  <a:txBody>
                    <a:bodyPr wrap="square" lIns="109728" rIns="109728" tIns="73152" bIns="73152"/>
                    <a:lstStyle/>
                    <a:p>
                      <a:pPr algn="l">
                        <a:defRPr sz="950" b="1">
                          <a:solidFill>
                            <a:srgbClr val="10956C"/>
                          </a:solidFill>
                          <a:latin typeface="Calibri"/>
                        </a:defRPr>
                      </a:pPr>
                      <a:r>
                        <a:t>PPO (GARRO Core)</a:t>
                      </a:r>
                    </a:p>
                  </a:txBody>
                  <a:tcPr>
                    <a:solidFill>
                      <a:srgbClr val="F0FDFA"/>
                    </a:solidFill>
                  </a:tcPr>
                </a:tc>
                <a:tc>
                  <a:txBody>
                    <a:bodyPr wrap="square" lIns="109728" rIns="109728" tIns="73152" bIns="73152"/>
                    <a:lstStyle/>
                    <a:p>
                      <a:pPr algn="l">
                        <a:defRPr sz="950" b="1">
                          <a:solidFill>
                            <a:srgbClr val="0F172A"/>
                          </a:solidFill>
                          <a:latin typeface="Calibri"/>
                        </a:defRPr>
                      </a:pPr>
                      <a:r>
                        <a:t>Stable clipped surrogate objective; monotonic policy updates</a:t>
                      </a:r>
                    </a:p>
                  </a:txBody>
                  <a:tcPr>
                    <a:solidFill>
                      <a:srgbClr val="F0FDFA"/>
                    </a:solidFill>
                  </a:tcPr>
                </a:tc>
                <a:tc>
                  <a:txBody>
                    <a:bodyPr wrap="square" lIns="109728" rIns="109728" tIns="73152" bIns="73152"/>
                    <a:lstStyle/>
                    <a:p>
                      <a:pPr algn="l">
                        <a:defRPr sz="950" b="1">
                          <a:solidFill>
                            <a:srgbClr val="0F172A"/>
                          </a:solidFill>
                          <a:latin typeface="Calibri"/>
                        </a:defRPr>
                      </a:pPr>
                      <a:r>
                        <a:t>Requires structural graph state encoding (which GARRO solves via Graph Transformer).</a:t>
                      </a:r>
                    </a:p>
                  </a:txBody>
                  <a:tcPr>
                    <a:solidFill>
                      <a:srgbClr val="F0FDFA"/>
                    </a:solidFill>
                  </a:tcPr>
                </a:tc>
              </a:tr>
            </a:tbl>
          </a:graphicData>
        </a:graphic>
      </p:graphicFrame>
      <p:sp>
        <p:nvSpPr>
          <p:cNvPr id="6" name="Rounded Rectangle 5"/>
          <p:cNvSpPr/>
          <p:nvPr/>
        </p:nvSpPr>
        <p:spPr>
          <a:xfrm>
            <a:off x="731520" y="5715000"/>
            <a:ext cx="10716768" cy="731520"/>
          </a:xfrm>
          <a:prstGeom prst="round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760720"/>
            <a:ext cx="10332720" cy="640080"/>
          </a:xfrm>
          <a:prstGeom prst="rect">
            <a:avLst/>
          </a:prstGeom>
          <a:noFill/>
        </p:spPr>
        <p:txBody>
          <a:bodyPr wrap="square">
            <a:spAutoFit/>
          </a:bodyPr>
          <a:lstStyle/>
          <a:p>
            <a:pPr>
              <a:defRPr sz="1050" b="1">
                <a:solidFill>
                  <a:srgbClr val="00A8CC"/>
                </a:solidFill>
              </a:defRPr>
            </a:pPr>
            <a:r>
              <a:t>KEY TAKEAWAY: No single existing baseline combines stable DRL policy optimization, graph-aware topology generalization, safe offline exploration, and human-in-the-loop intent translation. GARRO unifies these.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RESEARCH SYNTHESIS</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Identified Research Gap: The Missing Integration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Existing routing literature treats topology, safety, stability, and intent as isolated silos.</a:t>
            </a:r>
          </a:p>
        </p:txBody>
      </p:sp>
      <p:sp>
        <p:nvSpPr>
          <p:cNvPr id="5" name="Rounded Rectangle 4"/>
          <p:cNvSpPr/>
          <p:nvPr/>
        </p:nvSpPr>
        <p:spPr>
          <a:xfrm>
            <a:off x="731520" y="164592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846320" cy="1828800"/>
          </a:xfrm>
          <a:prstGeom prst="rect">
            <a:avLst/>
          </a:prstGeom>
          <a:noFill/>
        </p:spPr>
        <p:txBody>
          <a:bodyPr wrap="square">
            <a:spAutoFit/>
          </a:bodyPr>
          <a:lstStyle/>
          <a:p>
            <a:pPr>
              <a:defRPr sz="1200" b="1">
                <a:solidFill>
                  <a:srgbClr val="E11D48"/>
                </a:solidFill>
              </a:defRPr>
            </a:pPr>
            <a:r>
              <a:t>GAP 1: Topological Generalization Deficit</a:t>
            </a:r>
          </a:p>
          <a:p>
            <a:pPr>
              <a:spcBef>
                <a:spcPts val="400"/>
              </a:spcBef>
              <a:defRPr sz="950">
                <a:solidFill>
                  <a:srgbClr val="475569"/>
                </a:solidFill>
              </a:defRPr>
            </a:pPr>
            <a:r>
              <a:t>Prior DRL routing models feed flattened vector state arrays into standard MLPs. This ties the neural weights to fixed matrix dimensions, meaning an agent trained on NSFNET cannot run on GEANT2 without complete retraining.</a:t>
            </a:r>
          </a:p>
        </p:txBody>
      </p:sp>
      <p:sp>
        <p:nvSpPr>
          <p:cNvPr id="7" name="Rounded Rectangle 6"/>
          <p:cNvSpPr/>
          <p:nvPr/>
        </p:nvSpPr>
        <p:spPr>
          <a:xfrm>
            <a:off x="6217920" y="164592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1828800"/>
          </a:xfrm>
          <a:prstGeom prst="rect">
            <a:avLst/>
          </a:prstGeom>
          <a:noFill/>
        </p:spPr>
        <p:txBody>
          <a:bodyPr wrap="square">
            <a:spAutoFit/>
          </a:bodyPr>
          <a:lstStyle/>
          <a:p>
            <a:pPr>
              <a:defRPr sz="1200" b="1">
                <a:solidFill>
                  <a:srgbClr val="E11D48"/>
                </a:solidFill>
              </a:defRPr>
            </a:pPr>
            <a:r>
              <a:t>GAP 2: Live Network Exploration Hazards</a:t>
            </a:r>
          </a:p>
          <a:p>
            <a:pPr>
              <a:spcBef>
                <a:spcPts val="400"/>
              </a:spcBef>
              <a:defRPr sz="950">
                <a:solidFill>
                  <a:srgbClr val="475569"/>
                </a:solidFill>
              </a:defRPr>
            </a:pPr>
            <a:r>
              <a:t>Most RL models require hundreds of thousands of exploration steps. In live networks, exploratory trial-and-error actions cause catastrophic buffer drops, routing loops, and immediate carrier SLA breaches.</a:t>
            </a:r>
          </a:p>
        </p:txBody>
      </p:sp>
      <p:sp>
        <p:nvSpPr>
          <p:cNvPr id="9" name="Rounded Rectangle 8"/>
          <p:cNvSpPr/>
          <p:nvPr/>
        </p:nvSpPr>
        <p:spPr>
          <a:xfrm>
            <a:off x="731520" y="384048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31920"/>
            <a:ext cx="4846320" cy="1828800"/>
          </a:xfrm>
          <a:prstGeom prst="rect">
            <a:avLst/>
          </a:prstGeom>
          <a:noFill/>
        </p:spPr>
        <p:txBody>
          <a:bodyPr wrap="square">
            <a:spAutoFit/>
          </a:bodyPr>
          <a:lstStyle/>
          <a:p>
            <a:pPr>
              <a:defRPr sz="1200" b="1">
                <a:solidFill>
                  <a:srgbClr val="E11D48"/>
                </a:solidFill>
              </a:defRPr>
            </a:pPr>
            <a:r>
              <a:t>GAP 3: Static, Rigid Reward Weighting</a:t>
            </a:r>
          </a:p>
          <a:p>
            <a:pPr>
              <a:spcBef>
                <a:spcPts val="400"/>
              </a:spcBef>
              <a:defRPr sz="950">
                <a:solidFill>
                  <a:srgbClr val="475569"/>
                </a:solidFill>
              </a:defRPr>
            </a:pPr>
            <a:r>
              <a:t>Conventional DRL designs bake fixed hyperparameter coefficients into the reward function. Network operators cannot dynamically align the agent's objective with shifting business intent (e.g. prioritizing latency during video conferences).</a:t>
            </a:r>
          </a:p>
        </p:txBody>
      </p:sp>
      <p:sp>
        <p:nvSpPr>
          <p:cNvPr id="11" name="Rounded Rectangle 10"/>
          <p:cNvSpPr/>
          <p:nvPr/>
        </p:nvSpPr>
        <p:spPr>
          <a:xfrm>
            <a:off x="6217920" y="384048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931920"/>
            <a:ext cx="4846320" cy="1828800"/>
          </a:xfrm>
          <a:prstGeom prst="rect">
            <a:avLst/>
          </a:prstGeom>
          <a:noFill/>
        </p:spPr>
        <p:txBody>
          <a:bodyPr wrap="square">
            <a:spAutoFit/>
          </a:bodyPr>
          <a:lstStyle/>
          <a:p>
            <a:pPr>
              <a:defRPr sz="1200" b="1">
                <a:solidFill>
                  <a:srgbClr val="E11D48"/>
                </a:solidFill>
              </a:defRPr>
            </a:pPr>
            <a:r>
              <a:t>GAP 4: Lack of End-to-End Orchestration</a:t>
            </a:r>
          </a:p>
          <a:p>
            <a:pPr>
              <a:spcBef>
                <a:spcPts val="400"/>
              </a:spcBef>
              <a:defRPr sz="950">
                <a:solidFill>
                  <a:srgbClr val="475569"/>
                </a:solidFill>
              </a:defRPr>
            </a:pPr>
            <a:r>
              <a:t>Academic studies typically simulate routing in standalone Python scripts without real OpenFlow flow rule installation, controller integration, or operator-facing management interfaces.</a:t>
            </a:r>
          </a:p>
        </p:txBody>
      </p:sp>
      <p:sp>
        <p:nvSpPr>
          <p:cNvPr id="13" name="Rounded Rectangle 12"/>
          <p:cNvSpPr/>
          <p:nvPr/>
        </p:nvSpPr>
        <p:spPr>
          <a:xfrm>
            <a:off x="731520" y="5989320"/>
            <a:ext cx="10698480" cy="50292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35040"/>
            <a:ext cx="10332720" cy="411480"/>
          </a:xfrm>
          <a:prstGeom prst="rect">
            <a:avLst/>
          </a:prstGeom>
          <a:noFill/>
        </p:spPr>
        <p:txBody>
          <a:bodyPr wrap="none">
            <a:spAutoFit/>
          </a:bodyPr>
          <a:lstStyle/>
          <a:p>
            <a:pPr>
              <a:defRPr sz="1050" b="1">
                <a:solidFill>
                  <a:srgbClr val="10956C"/>
                </a:solidFill>
              </a:defRPr>
            </a:pPr>
            <a:r>
              <a:t>GARRO'S SYNTHESIS: Graph Transformer (Topology) + M/M/1/K Digital Twin (Safety) + PPO (Stability) + Agentic AI (Intent)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ARCHITECTURAL BLUEPRINT</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GARRO Architecture: Decoupled Three-Plane Design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Isolating heavy AI inference from the real-time asynchronous event loops of the SDN controller.</a:t>
            </a:r>
          </a:p>
        </p:txBody>
      </p:sp>
      <p:sp>
        <p:nvSpPr>
          <p:cNvPr id="5" name="Rounded Rectangle 4"/>
          <p:cNvSpPr/>
          <p:nvPr/>
        </p:nvSpPr>
        <p:spPr>
          <a:xfrm>
            <a:off x="731520" y="164592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480560"/>
          </a:xfrm>
          <a:prstGeom prst="rect">
            <a:avLst/>
          </a:prstGeom>
          <a:noFill/>
        </p:spPr>
        <p:txBody>
          <a:bodyPr wrap="square">
            <a:spAutoFit/>
          </a:bodyPr>
          <a:lstStyle/>
          <a:p>
            <a:pPr>
              <a:defRPr sz="1400" b="1">
                <a:solidFill>
                  <a:srgbClr val="0B192C"/>
                </a:solidFill>
              </a:defRPr>
            </a:pPr>
            <a:r>
              <a:t>Decoupled Functional Planes</a:t>
            </a:r>
          </a:p>
          <a:p>
            <a:pPr>
              <a:spcBef>
                <a:spcPts val="800"/>
              </a:spcBef>
              <a:defRPr sz="1000"/>
            </a:pPr>
            <a:r>
              <a:rPr b="1">
                <a:solidFill>
                  <a:srgbClr val="1A3D5F"/>
                </a:solidFill>
              </a:rPr>
              <a:t>• Operator &amp; Agentic AI Plane:</a:t>
            </a:r>
            <a:r>
              <a:rPr>
                <a:solidFill>
                  <a:srgbClr val="475569"/>
                </a:solidFill>
              </a:rPr>
              <a:t> Natural language intent (e.g. 'Optimize for zero loss') is parsed by Groq LPU (openai/gpt-oss-120b) in &lt;80ms and converted into dynamic reward weights (alpha1 to alpha4).</a:t>
            </a:r>
          </a:p>
          <a:p>
            <a:pPr>
              <a:spcBef>
                <a:spcPts val="800"/>
              </a:spcBef>
              <a:defRPr sz="1000"/>
            </a:pPr>
            <a:r>
              <a:rPr b="1">
                <a:solidFill>
                  <a:srgbClr val="1A3D5F"/>
                </a:solidFill>
              </a:rPr>
              <a:t>• AI Decision Plane (Offline/Online):</a:t>
            </a:r>
            <a:r>
              <a:rPr>
                <a:solidFill>
                  <a:srgbClr val="475569"/>
                </a:solidFill>
              </a:rPr>
              <a:t> The Graph Transformer encodes the network graph topology and edge utilization, while the PPO Actor selects the optimal candidate route from candidate k-shortest paths.</a:t>
            </a:r>
          </a:p>
          <a:p>
            <a:pPr>
              <a:spcBef>
                <a:spcPts val="800"/>
              </a:spcBef>
              <a:defRPr sz="1000"/>
            </a:pPr>
            <a:r>
              <a:rPr b="1">
                <a:solidFill>
                  <a:srgbClr val="1A3D5F"/>
                </a:solidFill>
              </a:rPr>
              <a:t>• SDN Control Plane (OS-Ken):</a:t>
            </a:r>
            <a:r>
              <a:rPr>
                <a:solidFill>
                  <a:srgbClr val="475569"/>
                </a:solidFill>
              </a:rPr>
              <a:t> Asynchronous Python controller handles OpenFlow 1.3 protocol handshakes, network topology discovery via LLDP, and exposes REST APIs for AI flow rule injection.</a:t>
            </a:r>
          </a:p>
          <a:p>
            <a:pPr>
              <a:spcBef>
                <a:spcPts val="800"/>
              </a:spcBef>
              <a:defRPr sz="1000"/>
            </a:pPr>
            <a:r>
              <a:rPr b="1">
                <a:solidFill>
                  <a:srgbClr val="1A3D5F"/>
                </a:solidFill>
              </a:rPr>
              <a:t>• SDN Data Plane (Mininet + OVS):</a:t>
            </a:r>
            <a:r>
              <a:rPr>
                <a:solidFill>
                  <a:srgbClr val="475569"/>
                </a:solidFill>
              </a:rPr>
              <a:t> Open vSwitch instances forward line-rate packets based on FlowMod rules installed by OS-Ken, completely isolated from AI compute overhead.</a:t>
            </a:r>
          </a:p>
        </p:txBody>
      </p:sp>
      <p:sp>
        <p:nvSpPr>
          <p:cNvPr id="7" name="Rounded Rectangle 6"/>
          <p:cNvSpPr/>
          <p:nvPr/>
        </p:nvSpPr>
        <p:spPr>
          <a:xfrm>
            <a:off x="6217920" y="164592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2.png"/>
          <p:cNvPicPr>
            <a:picLocks noChangeAspect="1"/>
          </p:cNvPicPr>
          <p:nvPr/>
        </p:nvPicPr>
        <p:blipFill>
          <a:blip r:embed="rId2"/>
          <a:stretch>
            <a:fillRect/>
          </a:stretch>
        </p:blipFill>
        <p:spPr>
          <a:xfrm>
            <a:off x="6492240" y="1828800"/>
            <a:ext cx="4663440" cy="74092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DECISION EXECUTION PIPELINE</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GARRO Decision Process &amp; Multi-Objective MDP</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From raw network telemetry to OpenFlow rule installation in microsecond precision.</a:t>
            </a:r>
          </a:p>
        </p:txBody>
      </p:sp>
      <p:sp>
        <p:nvSpPr>
          <p:cNvPr id="5" name="Rounded Rectangle 4"/>
          <p:cNvSpPr/>
          <p:nvPr/>
        </p:nvSpPr>
        <p:spPr>
          <a:xfrm>
            <a:off x="731520" y="1645920"/>
            <a:ext cx="19933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810512" cy="1828800"/>
          </a:xfrm>
          <a:prstGeom prst="rect">
            <a:avLst/>
          </a:prstGeom>
          <a:noFill/>
        </p:spPr>
        <p:txBody>
          <a:bodyPr wrap="square">
            <a:spAutoFit/>
          </a:bodyPr>
          <a:lstStyle/>
          <a:p>
            <a:pPr>
              <a:defRPr sz="1000" b="1">
                <a:solidFill>
                  <a:srgbClr val="00A8CC"/>
                </a:solidFill>
              </a:defRPr>
            </a:pPr>
            <a:r>
              <a:t>STEP 1</a:t>
            </a:r>
          </a:p>
          <a:p>
            <a:pPr>
              <a:spcBef>
                <a:spcPts val="300"/>
              </a:spcBef>
              <a:defRPr sz="1100" b="1">
                <a:solidFill>
                  <a:srgbClr val="0B192C"/>
                </a:solidFill>
              </a:defRPr>
            </a:pPr>
            <a:r>
              <a:t>Telemetry Ingestion</a:t>
            </a:r>
          </a:p>
          <a:p>
            <a:pPr>
              <a:spcBef>
                <a:spcPts val="500"/>
              </a:spcBef>
              <a:defRPr sz="900">
                <a:solidFill>
                  <a:srgbClr val="475569"/>
                </a:solidFill>
              </a:defRPr>
            </a:pPr>
            <a:r>
              <a:t>OS-Ken collects port stats (OFPPortStatsRequest) link bytes, queue depths, and packet counters.</a:t>
            </a:r>
          </a:p>
        </p:txBody>
      </p:sp>
      <p:sp>
        <p:nvSpPr>
          <p:cNvPr id="7" name="Rounded Rectangle 6"/>
          <p:cNvSpPr/>
          <p:nvPr/>
        </p:nvSpPr>
        <p:spPr>
          <a:xfrm>
            <a:off x="2907792" y="1645920"/>
            <a:ext cx="19933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2" y="1737360"/>
            <a:ext cx="1810512" cy="1828800"/>
          </a:xfrm>
          <a:prstGeom prst="rect">
            <a:avLst/>
          </a:prstGeom>
          <a:noFill/>
        </p:spPr>
        <p:txBody>
          <a:bodyPr wrap="square">
            <a:spAutoFit/>
          </a:bodyPr>
          <a:lstStyle/>
          <a:p>
            <a:pPr>
              <a:defRPr sz="1000" b="1">
                <a:solidFill>
                  <a:srgbClr val="00A8CC"/>
                </a:solidFill>
              </a:defRPr>
            </a:pPr>
            <a:r>
              <a:t>STEP 2</a:t>
            </a:r>
          </a:p>
          <a:p>
            <a:pPr>
              <a:spcBef>
                <a:spcPts val="300"/>
              </a:spcBef>
              <a:defRPr sz="1100" b="1">
                <a:solidFill>
                  <a:srgbClr val="0B192C"/>
                </a:solidFill>
              </a:defRPr>
            </a:pPr>
            <a:r>
              <a:t>Graph Embedding</a:t>
            </a:r>
          </a:p>
          <a:p>
            <a:pPr>
              <a:spcBef>
                <a:spcPts val="500"/>
              </a:spcBef>
              <a:defRPr sz="900">
                <a:solidFill>
                  <a:srgbClr val="475569"/>
                </a:solidFill>
              </a:defRPr>
            </a:pPr>
            <a:r>
              <a:t>Graph Transformer encodes node features and link utilization matrix using multi-head self-attention.</a:t>
            </a:r>
          </a:p>
        </p:txBody>
      </p:sp>
      <p:sp>
        <p:nvSpPr>
          <p:cNvPr id="9" name="Rounded Rectangle 8"/>
          <p:cNvSpPr/>
          <p:nvPr/>
        </p:nvSpPr>
        <p:spPr>
          <a:xfrm>
            <a:off x="5084064" y="1645920"/>
            <a:ext cx="19933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504" y="1737360"/>
            <a:ext cx="1810512" cy="1828800"/>
          </a:xfrm>
          <a:prstGeom prst="rect">
            <a:avLst/>
          </a:prstGeom>
          <a:noFill/>
        </p:spPr>
        <p:txBody>
          <a:bodyPr wrap="square">
            <a:spAutoFit/>
          </a:bodyPr>
          <a:lstStyle/>
          <a:p>
            <a:pPr>
              <a:defRPr sz="1000" b="1">
                <a:solidFill>
                  <a:srgbClr val="00A8CC"/>
                </a:solidFill>
              </a:defRPr>
            </a:pPr>
            <a:r>
              <a:t>STEP 3</a:t>
            </a:r>
          </a:p>
          <a:p>
            <a:pPr>
              <a:spcBef>
                <a:spcPts val="300"/>
              </a:spcBef>
              <a:defRPr sz="1100" b="1">
                <a:solidFill>
                  <a:srgbClr val="0B192C"/>
                </a:solidFill>
              </a:defRPr>
            </a:pPr>
            <a:r>
              <a:t>PPO Policy Scoring</a:t>
            </a:r>
          </a:p>
          <a:p>
            <a:pPr>
              <a:spcBef>
                <a:spcPts val="500"/>
              </a:spcBef>
              <a:defRPr sz="900">
                <a:solidFill>
                  <a:srgbClr val="475569"/>
                </a:solidFill>
              </a:defRPr>
            </a:pPr>
            <a:r>
              <a:t>PPO Actor network evaluates candidate paths (k=5) and samples the action with highest probability.</a:t>
            </a:r>
          </a:p>
        </p:txBody>
      </p:sp>
      <p:sp>
        <p:nvSpPr>
          <p:cNvPr id="11" name="Rounded Rectangle 10"/>
          <p:cNvSpPr/>
          <p:nvPr/>
        </p:nvSpPr>
        <p:spPr>
          <a:xfrm>
            <a:off x="7260336" y="1645920"/>
            <a:ext cx="19933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6" y="1737360"/>
            <a:ext cx="1810512" cy="1828800"/>
          </a:xfrm>
          <a:prstGeom prst="rect">
            <a:avLst/>
          </a:prstGeom>
          <a:noFill/>
        </p:spPr>
        <p:txBody>
          <a:bodyPr wrap="square">
            <a:spAutoFit/>
          </a:bodyPr>
          <a:lstStyle/>
          <a:p>
            <a:pPr>
              <a:defRPr sz="1000" b="1">
                <a:solidFill>
                  <a:srgbClr val="00A8CC"/>
                </a:solidFill>
              </a:defRPr>
            </a:pPr>
            <a:r>
              <a:t>STEP 4</a:t>
            </a:r>
          </a:p>
          <a:p>
            <a:pPr>
              <a:spcBef>
                <a:spcPts val="300"/>
              </a:spcBef>
              <a:defRPr sz="1100" b="1">
                <a:solidFill>
                  <a:srgbClr val="0B192C"/>
                </a:solidFill>
              </a:defRPr>
            </a:pPr>
            <a:r>
              <a:t>REST Dispatch</a:t>
            </a:r>
          </a:p>
          <a:p>
            <a:pPr>
              <a:spcBef>
                <a:spcPts val="500"/>
              </a:spcBef>
              <a:defRPr sz="900">
                <a:solidFill>
                  <a:srgbClr val="475569"/>
                </a:solidFill>
              </a:defRPr>
            </a:pPr>
            <a:r>
              <a:t>Selected routing path is serialized into JSON and pushed to the OS-Ken REST gateway asynchronously.</a:t>
            </a:r>
          </a:p>
        </p:txBody>
      </p:sp>
      <p:sp>
        <p:nvSpPr>
          <p:cNvPr id="13" name="Rounded Rectangle 12"/>
          <p:cNvSpPr/>
          <p:nvPr/>
        </p:nvSpPr>
        <p:spPr>
          <a:xfrm>
            <a:off x="9436608" y="1645920"/>
            <a:ext cx="19933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8048" y="1737360"/>
            <a:ext cx="1810512" cy="1828800"/>
          </a:xfrm>
          <a:prstGeom prst="rect">
            <a:avLst/>
          </a:prstGeom>
          <a:noFill/>
        </p:spPr>
        <p:txBody>
          <a:bodyPr wrap="square">
            <a:spAutoFit/>
          </a:bodyPr>
          <a:lstStyle/>
          <a:p>
            <a:pPr>
              <a:defRPr sz="1000" b="1">
                <a:solidFill>
                  <a:srgbClr val="00A8CC"/>
                </a:solidFill>
              </a:defRPr>
            </a:pPr>
            <a:r>
              <a:t>STEP 5</a:t>
            </a:r>
          </a:p>
          <a:p>
            <a:pPr>
              <a:spcBef>
                <a:spcPts val="300"/>
              </a:spcBef>
              <a:defRPr sz="1100" b="1">
                <a:solidFill>
                  <a:srgbClr val="0B192C"/>
                </a:solidFill>
              </a:defRPr>
            </a:pPr>
            <a:r>
              <a:t>OpenFlow FlowMod</a:t>
            </a:r>
          </a:p>
          <a:p>
            <a:pPr>
              <a:spcBef>
                <a:spcPts val="500"/>
              </a:spcBef>
              <a:defRPr sz="900">
                <a:solidFill>
                  <a:srgbClr val="475569"/>
                </a:solidFill>
              </a:defRPr>
            </a:pPr>
            <a:r>
              <a:t>OS-Ken constructs OpenFlow 1.3 flow rules and programs Open vSwitch forwarding tables.</a:t>
            </a:r>
          </a:p>
        </p:txBody>
      </p:sp>
      <p:sp>
        <p:nvSpPr>
          <p:cNvPr id="15" name="Rounded Rectangle 14"/>
          <p:cNvSpPr/>
          <p:nvPr/>
        </p:nvSpPr>
        <p:spPr>
          <a:xfrm>
            <a:off x="731520" y="3931920"/>
            <a:ext cx="52120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69080"/>
            <a:ext cx="4846320" cy="2194560"/>
          </a:xfrm>
          <a:prstGeom prst="rect">
            <a:avLst/>
          </a:prstGeom>
          <a:noFill/>
        </p:spPr>
        <p:txBody>
          <a:bodyPr wrap="square">
            <a:spAutoFit/>
          </a:bodyPr>
          <a:lstStyle/>
          <a:p>
            <a:pPr>
              <a:defRPr sz="1300" b="1">
                <a:solidFill>
                  <a:srgbClr val="0B192C"/>
                </a:solidFill>
              </a:defRPr>
            </a:pPr>
            <a:r>
              <a:t>MDP State Representation (S_t)</a:t>
            </a:r>
          </a:p>
          <a:p>
            <a:pPr>
              <a:spcBef>
                <a:spcPts val="600"/>
              </a:spcBef>
              <a:defRPr sz="1000">
                <a:solidFill>
                  <a:srgbClr val="475569"/>
                </a:solidFill>
              </a:defRPr>
            </a:pPr>
            <a:r>
              <a:t>• Node Features: Switch processing state, CPU load, and buffer occupancy.</a:t>
            </a:r>
            <a:br/>
            <a:r>
              <a:t>• Edge Features: Instantaneous link utilization (rho_e), available bandwidth (C_e - D_e), propagation latency (d_prop), and packet loss count.</a:t>
            </a:r>
            <a:br/>
            <a:r>
              <a:t>• Traffic Demand: Ingress source-destination pair and requested flow bitrate.</a:t>
            </a:r>
            <a:br/>
            <a:r>
              <a:t>• Virtual Star Node: Aggregates global topology summary token for graph-level context.</a:t>
            </a:r>
          </a:p>
        </p:txBody>
      </p:sp>
      <p:sp>
        <p:nvSpPr>
          <p:cNvPr id="17" name="Rounded Rectangle 16"/>
          <p:cNvSpPr/>
          <p:nvPr/>
        </p:nvSpPr>
        <p:spPr>
          <a:xfrm>
            <a:off x="6217920" y="3931920"/>
            <a:ext cx="52120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69080"/>
            <a:ext cx="4846320" cy="2194560"/>
          </a:xfrm>
          <a:prstGeom prst="rect">
            <a:avLst/>
          </a:prstGeom>
          <a:noFill/>
        </p:spPr>
        <p:txBody>
          <a:bodyPr wrap="square">
            <a:spAutoFit/>
          </a:bodyPr>
          <a:lstStyle/>
          <a:p>
            <a:pPr>
              <a:defRPr sz="1300" b="1">
                <a:solidFill>
                  <a:srgbClr val="0B192C"/>
                </a:solidFill>
              </a:defRPr>
            </a:pPr>
            <a:r>
              <a:t>Multi-Objective Reward Function (R_t)</a:t>
            </a:r>
          </a:p>
          <a:p>
            <a:pPr>
              <a:spcBef>
                <a:spcPts val="600"/>
              </a:spcBef>
              <a:defRPr sz="1000">
                <a:solidFill>
                  <a:srgbClr val="475569"/>
                </a:solidFill>
              </a:defRPr>
            </a:pPr>
            <a:r>
              <a:t>R_t = α1 · R_throughput - α2 · R_delay - α3 · R_loss - α4 · R_variance</a:t>
            </a:r>
            <a:br/>
            <a:br/>
            <a:r>
              <a:t>• α1 (Throughput): Rewards successfully delivered payload volume.</a:t>
            </a:r>
            <a:br/>
            <a:r>
              <a:t>• α2 (Latency): Penalizes M/M/1/K queuing delay + propagation latency.</a:t>
            </a:r>
            <a:br/>
            <a:r>
              <a:t>• α3 (Packet Loss): Exponentially penalizes buffer overflow drops.</a:t>
            </a:r>
            <a:br/>
            <a:r>
              <a:t>• α4 (Load Balancing): Penalizes standard deviation of link utilization to prevent hotspot creation.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ALGORITHM DEFENSE</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Why Graph Transformer and PPO?</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Justifying our architectural choices against traditional ML and alternative DRL algorithms.</a:t>
            </a:r>
          </a:p>
        </p:txBody>
      </p:sp>
      <p:sp>
        <p:nvSpPr>
          <p:cNvPr id="5" name="Rounded Rectangle 4"/>
          <p:cNvSpPr/>
          <p:nvPr/>
        </p:nvSpPr>
        <p:spPr>
          <a:xfrm>
            <a:off x="731520" y="164592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4389120"/>
          </a:xfrm>
          <a:prstGeom prst="rect">
            <a:avLst/>
          </a:prstGeom>
          <a:noFill/>
        </p:spPr>
        <p:txBody>
          <a:bodyPr wrap="square">
            <a:spAutoFit/>
          </a:bodyPr>
          <a:lstStyle/>
          <a:p>
            <a:pPr>
              <a:defRPr sz="1400" b="1">
                <a:solidFill>
                  <a:srgbClr val="0B192C"/>
                </a:solidFill>
              </a:defRPr>
            </a:pPr>
            <a:r>
              <a:t>1. Graph Transformer vs Standard MLPs</a:t>
            </a:r>
          </a:p>
          <a:p>
            <a:pPr>
              <a:spcBef>
                <a:spcPts val="800"/>
              </a:spcBef>
              <a:defRPr sz="1000"/>
            </a:pPr>
            <a:r>
              <a:rPr b="1">
                <a:solidFill>
                  <a:srgbClr val="1A3D5F"/>
                </a:solidFill>
              </a:rPr>
              <a:t>• The Problem with MLPs/CNNs:</a:t>
            </a:r>
            <a:r>
              <a:rPr>
                <a:solidFill>
                  <a:srgbClr val="475569"/>
                </a:solidFill>
              </a:rPr>
              <a:t> Traditional neural networks expect fixed-dimensional vector inputs (e.g. 100 features). Network topologies are dynamic graphs with varying nodes, edges, and node degrees.</a:t>
            </a:r>
          </a:p>
          <a:p>
            <a:pPr>
              <a:spcBef>
                <a:spcPts val="800"/>
              </a:spcBef>
              <a:defRPr sz="1000"/>
            </a:pPr>
            <a:r>
              <a:rPr b="1">
                <a:solidFill>
                  <a:srgbClr val="1A3D5F"/>
                </a:solidFill>
              </a:rPr>
              <a:t>• Graph-Structured Invariance:</a:t>
            </a:r>
            <a:r>
              <a:rPr>
                <a:solidFill>
                  <a:srgbClr val="475569"/>
                </a:solidFill>
              </a:rPr>
              <a:t> Graph Transformers process node and edge feature matrices directly. They are permutation-invariant and can handle topologies of varying sizes without architectural changes.</a:t>
            </a:r>
          </a:p>
          <a:p>
            <a:pPr>
              <a:spcBef>
                <a:spcPts val="800"/>
              </a:spcBef>
              <a:defRPr sz="1000"/>
            </a:pPr>
            <a:r>
              <a:rPr b="1">
                <a:solidFill>
                  <a:srgbClr val="1A3D5F"/>
                </a:solidFill>
              </a:rPr>
              <a:t>• Multi-Head Self-Attention:</a:t>
            </a:r>
            <a:r>
              <a:rPr>
                <a:solidFill>
                  <a:srgbClr val="475569"/>
                </a:solidFill>
              </a:rPr>
              <a:t> Standard GCNs suffer from over-smoothing beyond 2-3 hops. Graph Transformers use self-attention to capture long-distance transcontinental dependencies across the entire WAN diameter.</a:t>
            </a:r>
          </a:p>
          <a:p>
            <a:pPr>
              <a:spcBef>
                <a:spcPts val="800"/>
              </a:spcBef>
              <a:defRPr sz="1000"/>
            </a:pPr>
            <a:r>
              <a:rPr b="1">
                <a:solidFill>
                  <a:srgbClr val="1A3D5F"/>
                </a:solidFill>
              </a:rPr>
              <a:t>• Topological Generalization:</a:t>
            </a:r>
            <a:r>
              <a:rPr>
                <a:solidFill>
                  <a:srgbClr val="475569"/>
                </a:solidFill>
              </a:rPr>
              <a:t> Enables true zero-shot or few-shot transfer across structurally distinct networks (from NSFNET to GEANT2).</a:t>
            </a:r>
          </a:p>
        </p:txBody>
      </p:sp>
      <p:sp>
        <p:nvSpPr>
          <p:cNvPr id="7" name="Rounded Rectangle 6"/>
          <p:cNvSpPr/>
          <p:nvPr/>
        </p:nvSpPr>
        <p:spPr>
          <a:xfrm>
            <a:off x="6217920" y="164592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389120"/>
          </a:xfrm>
          <a:prstGeom prst="rect">
            <a:avLst/>
          </a:prstGeom>
          <a:noFill/>
        </p:spPr>
        <p:txBody>
          <a:bodyPr wrap="square">
            <a:spAutoFit/>
          </a:bodyPr>
          <a:lstStyle/>
          <a:p>
            <a:pPr>
              <a:defRPr sz="1400" b="1">
                <a:solidFill>
                  <a:srgbClr val="0B192C"/>
                </a:solidFill>
              </a:defRPr>
            </a:pPr>
            <a:r>
              <a:t>2. PPO vs DQN, DDQN, and DDPG</a:t>
            </a:r>
          </a:p>
          <a:p>
            <a:pPr>
              <a:spcBef>
                <a:spcPts val="800"/>
              </a:spcBef>
              <a:defRPr sz="1000"/>
            </a:pPr>
            <a:r>
              <a:rPr b="1">
                <a:solidFill>
                  <a:srgbClr val="1A3D5F"/>
                </a:solidFill>
              </a:rPr>
              <a:t>• DQN / DDQN Limitations:</a:t>
            </a:r>
            <a:r>
              <a:rPr>
                <a:solidFill>
                  <a:srgbClr val="475569"/>
                </a:solidFill>
              </a:rPr>
              <a:t> DQN is value-based and struggles with large candidate path sets. It suffers from severe Q-value overestimation, leading to oscillating routing paths and route flapping.</a:t>
            </a:r>
          </a:p>
          <a:p>
            <a:pPr>
              <a:spcBef>
                <a:spcPts val="800"/>
              </a:spcBef>
              <a:defRPr sz="1000"/>
            </a:pPr>
            <a:r>
              <a:rPr b="1">
                <a:solidFill>
                  <a:srgbClr val="1A3D5F"/>
                </a:solidFill>
              </a:rPr>
              <a:t>• DDPG Instability:</a:t>
            </a:r>
            <a:r>
              <a:rPr>
                <a:solidFill>
                  <a:srgbClr val="475569"/>
                </a:solidFill>
              </a:rPr>
              <a:t> Deep Deterministic Policy Gradient (DDPG) is notoriously sensitive to hyperparameters. In our pilot tests, DDPG frequently experienced policy divergence and actor saturation.</a:t>
            </a:r>
          </a:p>
          <a:p>
            <a:pPr>
              <a:spcBef>
                <a:spcPts val="800"/>
              </a:spcBef>
              <a:defRPr sz="1000"/>
            </a:pPr>
            <a:r>
              <a:rPr b="1">
                <a:solidFill>
                  <a:srgbClr val="1A3D5F"/>
                </a:solidFill>
              </a:rPr>
              <a:t>• Clipped Surrogate Objective:</a:t>
            </a:r>
            <a:r>
              <a:rPr>
                <a:solidFill>
                  <a:srgbClr val="475569"/>
                </a:solidFill>
              </a:rPr>
              <a:t> PPO restricts the policy probability ratio r_t(theta) to [1-eps, 1+eps] (where eps = 0.2). This strictly prohibits destructively large policy update steps.</a:t>
            </a:r>
          </a:p>
          <a:p>
            <a:pPr>
              <a:spcBef>
                <a:spcPts val="800"/>
              </a:spcBef>
              <a:defRPr sz="1000"/>
            </a:pPr>
            <a:r>
              <a:rPr b="1">
                <a:solidFill>
                  <a:srgbClr val="1A3D5F"/>
                </a:solidFill>
              </a:rPr>
              <a:t>• Monotonic Improvement Guarantee:</a:t>
            </a:r>
            <a:r>
              <a:rPr>
                <a:solidFill>
                  <a:srgbClr val="475569"/>
                </a:solidFill>
              </a:rPr>
              <a:t> Maximizes Generalized Advantage Estimation (GAE), providing smooth, monotonic policy convergence across millions of training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SAFETY &amp; SIMULATION METHODOLOGY</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Safe Offline Training Using an M/M/1/K Digital Twin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Eliminating live network exploration risks through mathematical queuing theory simulation.</a:t>
            </a:r>
          </a:p>
        </p:txBody>
      </p:sp>
      <p:sp>
        <p:nvSpPr>
          <p:cNvPr id="5" name="Rounded Rectangle 4"/>
          <p:cNvSpPr/>
          <p:nvPr/>
        </p:nvSpPr>
        <p:spPr>
          <a:xfrm>
            <a:off x="731520" y="1645920"/>
            <a:ext cx="5120640" cy="46634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400" b="1">
                <a:solidFill>
                  <a:srgbClr val="E11D48"/>
                </a:solidFill>
              </a:defRPr>
            </a:pPr>
            <a:r>
              <a:t>The Hazard: Direct Online Exploration</a:t>
            </a:r>
          </a:p>
          <a:p>
            <a:pPr>
              <a:spcBef>
                <a:spcPts val="800"/>
              </a:spcBef>
              <a:defRPr sz="1050">
                <a:solidFill>
                  <a:srgbClr val="0F172A"/>
                </a:solidFill>
              </a:defRPr>
            </a:pPr>
            <a:r>
              <a:t>An untrained DRL agent learns purely through exploratory trial and error.</a:t>
            </a:r>
            <a:br/>
            <a:br/>
            <a:r>
              <a:t>Deploying an untrained agent directly onto a live production SDN creates:</a:t>
            </a:r>
            <a:br/>
            <a:br/>
            <a:r>
              <a:t>❌ Random Action Sampling  →  Routing loops &amp; black holes</a:t>
            </a:r>
            <a:br/>
            <a:r>
              <a:t>❌ Buffer Queue Saturation  →  Immediate packet drops</a:t>
            </a:r>
            <a:br/>
            <a:r>
              <a:t>❌ Multi-Second Latency Spikes  →  Severe SLA violations</a:t>
            </a:r>
            <a:br/>
            <a:r>
              <a:t>❌ Controller Overhead  →  Control-plane buffer exhaustion</a:t>
            </a:r>
            <a:br/>
            <a:br/>
            <a:r>
              <a:t>Conclusion: Online training on live enterprise or carrier infrastructure is operationally unacceptable.</a:t>
            </a:r>
          </a:p>
        </p:txBody>
      </p:sp>
      <p:sp>
        <p:nvSpPr>
          <p:cNvPr id="7" name="Rounded Rectangle 6"/>
          <p:cNvSpPr/>
          <p:nvPr/>
        </p:nvSpPr>
        <p:spPr>
          <a:xfrm>
            <a:off x="6217920" y="1645920"/>
            <a:ext cx="5212080" cy="46634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97680"/>
          </a:xfrm>
          <a:prstGeom prst="rect">
            <a:avLst/>
          </a:prstGeom>
          <a:noFill/>
        </p:spPr>
        <p:txBody>
          <a:bodyPr wrap="square">
            <a:spAutoFit/>
          </a:bodyPr>
          <a:lstStyle/>
          <a:p>
            <a:pPr>
              <a:defRPr sz="1400" b="1">
                <a:solidFill>
                  <a:srgbClr val="10956C"/>
                </a:solidFill>
              </a:defRPr>
            </a:pPr>
            <a:r>
              <a:t>GARRO's Solution: M/M/1/K Digital Twin Sandbox</a:t>
            </a:r>
          </a:p>
          <a:p>
            <a:pPr>
              <a:spcBef>
                <a:spcPts val="600"/>
              </a:spcBef>
              <a:defRPr sz="1000"/>
            </a:pPr>
            <a:r>
              <a:rPr b="1">
                <a:solidFill>
                  <a:srgbClr val="1A3D5F"/>
                </a:solidFill>
              </a:rPr>
              <a:t>✔ Mathematical Queue Modeling:</a:t>
            </a:r>
            <a:r>
              <a:rPr>
                <a:solidFill>
                  <a:srgbClr val="475569"/>
                </a:solidFill>
              </a:rPr>
              <a:t> Every network link is modeled as a finite-capacity M/M/1/K queue with buffer limit K=50 packets.</a:t>
            </a:r>
          </a:p>
          <a:p>
            <a:pPr>
              <a:spcBef>
                <a:spcPts val="600"/>
              </a:spcBef>
              <a:defRPr sz="1000"/>
            </a:pPr>
            <a:r>
              <a:rPr b="1">
                <a:solidFill>
                  <a:srgbClr val="1A3D5F"/>
                </a:solidFill>
              </a:rPr>
              <a:t>✔ Poisson Packet Arrivals (M):</a:t>
            </a:r>
            <a:r>
              <a:rPr>
                <a:solidFill>
                  <a:srgbClr val="475569"/>
                </a:solidFill>
              </a:rPr>
              <a:t> Models bursty arrival rates (lambda) matching realistic dynamic carrier traffic demand matrices.</a:t>
            </a:r>
          </a:p>
          <a:p>
            <a:pPr>
              <a:spcBef>
                <a:spcPts val="600"/>
              </a:spcBef>
              <a:defRPr sz="1000"/>
            </a:pPr>
            <a:r>
              <a:rPr b="1">
                <a:solidFill>
                  <a:srgbClr val="1A3D5F"/>
                </a:solidFill>
              </a:rPr>
              <a:t>✔ Exponential Service Time (M):</a:t>
            </a:r>
            <a:r>
              <a:rPr>
                <a:solidFill>
                  <a:srgbClr val="475569"/>
                </a:solidFill>
              </a:rPr>
              <a:t> Packets serviced according to physical link capacities (C_e) with transmission latency 1/mu.</a:t>
            </a:r>
          </a:p>
          <a:p>
            <a:pPr>
              <a:spcBef>
                <a:spcPts val="600"/>
              </a:spcBef>
              <a:defRPr sz="1000"/>
            </a:pPr>
            <a:r>
              <a:rPr b="1">
                <a:solidFill>
                  <a:srgbClr val="1A3D5F"/>
                </a:solidFill>
              </a:rPr>
              <a:t>✔ Finite Buffer Drops (K):</a:t>
            </a:r>
            <a:r>
              <a:rPr>
                <a:solidFill>
                  <a:srgbClr val="475569"/>
                </a:solidFill>
              </a:rPr>
              <a:t> Captures real packet drop probability (P_overflow) when buffer occupancy exceeds K packets.</a:t>
            </a:r>
          </a:p>
          <a:p>
            <a:pPr>
              <a:spcBef>
                <a:spcPts val="600"/>
              </a:spcBef>
              <a:defRPr sz="1000"/>
            </a:pPr>
            <a:r>
              <a:rPr b="1">
                <a:solidFill>
                  <a:srgbClr val="1A3D5F"/>
                </a:solidFill>
              </a:rPr>
              <a:t>✔ Safe Offline Policy Convergence:</a:t>
            </a:r>
            <a:r>
              <a:rPr>
                <a:solidFill>
                  <a:srgbClr val="475569"/>
                </a:solidFill>
              </a:rPr>
              <a:t> Millions of environment steps executed at 50,000 steps/sec on GPUs without risking a single real-world packet.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SYSTEM IMPLEMENTATION</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Implementation Environment and Distributed Toolchain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A multi-tier cloud and local testbed designed for high-performance training and line-rate SDN emulation.</a:t>
            </a:r>
          </a:p>
        </p:txBody>
      </p:sp>
      <p:sp>
        <p:nvSpPr>
          <p:cNvPr id="5" name="Rounded Rectangle 4"/>
          <p:cNvSpPr/>
          <p:nvPr/>
        </p:nvSpPr>
        <p:spPr>
          <a:xfrm>
            <a:off x="731520" y="1645920"/>
            <a:ext cx="3328416" cy="219456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37360"/>
            <a:ext cx="3108960" cy="2011680"/>
          </a:xfrm>
          <a:prstGeom prst="rect">
            <a:avLst/>
          </a:prstGeom>
          <a:noFill/>
        </p:spPr>
        <p:txBody>
          <a:bodyPr wrap="square">
            <a:spAutoFit/>
          </a:bodyPr>
          <a:lstStyle/>
          <a:p>
            <a:pPr>
              <a:defRPr sz="1100" b="1">
                <a:solidFill>
                  <a:srgbClr val="0B192C"/>
                </a:solidFill>
              </a:defRPr>
            </a:pPr>
            <a:r>
              <a:t>Phase 1: GPU Training Subsystem</a:t>
            </a:r>
          </a:p>
          <a:p>
            <a:pPr>
              <a:defRPr sz="950" b="1">
                <a:solidFill>
                  <a:srgbClr val="00A8CC"/>
                </a:solidFill>
              </a:defRPr>
            </a:pPr>
            <a:r>
              <a:t>Kaggle Cloud Infrastructure</a:t>
            </a:r>
          </a:p>
          <a:p>
            <a:pPr>
              <a:spcBef>
                <a:spcPts val="400"/>
              </a:spcBef>
              <a:defRPr sz="850">
                <a:solidFill>
                  <a:srgbClr val="475569"/>
                </a:solidFill>
              </a:defRPr>
            </a:pPr>
            <a:r>
              <a:t>• Dual Tesla T4 GPUs (31.2 GB VRAM)</a:t>
            </a:r>
            <a:br/>
            <a:r>
              <a:t>• 4 vCPU Cores, 30 GB System RAM</a:t>
            </a:r>
            <a:br/>
            <a:r>
              <a:t>• PyTorch 2.10 + PyTorch Geometric 2.5.3</a:t>
            </a:r>
            <a:br/>
            <a:r>
              <a:t>• Automatic Mixed Precision (AMP float16)</a:t>
            </a:r>
            <a:br/>
            <a:r>
              <a:t>• torch.compile Graph JIT optimization</a:t>
            </a:r>
          </a:p>
        </p:txBody>
      </p:sp>
      <p:sp>
        <p:nvSpPr>
          <p:cNvPr id="7" name="Rounded Rectangle 6"/>
          <p:cNvSpPr/>
          <p:nvPr/>
        </p:nvSpPr>
        <p:spPr>
          <a:xfrm>
            <a:off x="4425696" y="1645920"/>
            <a:ext cx="3328416"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737360"/>
            <a:ext cx="3108960" cy="2011680"/>
          </a:xfrm>
          <a:prstGeom prst="rect">
            <a:avLst/>
          </a:prstGeom>
          <a:noFill/>
        </p:spPr>
        <p:txBody>
          <a:bodyPr wrap="square">
            <a:spAutoFit/>
          </a:bodyPr>
          <a:lstStyle/>
          <a:p>
            <a:pPr>
              <a:defRPr sz="1100" b="1">
                <a:solidFill>
                  <a:srgbClr val="0B192C"/>
                </a:solidFill>
              </a:defRPr>
            </a:pPr>
            <a:r>
              <a:t>Phase 2: Live SDN Emulation</a:t>
            </a:r>
          </a:p>
          <a:p>
            <a:pPr>
              <a:defRPr sz="950" b="1">
                <a:solidFill>
                  <a:srgbClr val="00A8CC"/>
                </a:solidFill>
              </a:defRPr>
            </a:pPr>
            <a:r>
              <a:t>WSL 2 / Ubuntu 22.04 LTS</a:t>
            </a:r>
          </a:p>
          <a:p>
            <a:pPr>
              <a:spcBef>
                <a:spcPts val="400"/>
              </a:spcBef>
              <a:defRPr sz="850">
                <a:solidFill>
                  <a:srgbClr val="475569"/>
                </a:solidFill>
              </a:defRPr>
            </a:pPr>
            <a:r>
              <a:t>• AMD/Intel x86_64 Host (8 vCPUs, 16 GB RAM)</a:t>
            </a:r>
            <a:br/>
            <a:r>
              <a:t>• Mininet 2.3.1 Network Emulator</a:t>
            </a:r>
            <a:br/>
            <a:r>
              <a:t>• Open vSwitch (OVS 2.17) Data Plane</a:t>
            </a:r>
            <a:br/>
            <a:r>
              <a:t>• OpenFlow 1.3 Communication Protocol</a:t>
            </a:r>
            <a:br/>
            <a:r>
              <a:t>• High-precision iperf &amp; tc traffic generators</a:t>
            </a:r>
          </a:p>
        </p:txBody>
      </p:sp>
      <p:sp>
        <p:nvSpPr>
          <p:cNvPr id="9" name="Rounded Rectangle 8"/>
          <p:cNvSpPr/>
          <p:nvPr/>
        </p:nvSpPr>
        <p:spPr>
          <a:xfrm>
            <a:off x="8119872" y="1645920"/>
            <a:ext cx="3328416"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37360"/>
            <a:ext cx="3108960" cy="2011680"/>
          </a:xfrm>
          <a:prstGeom prst="rect">
            <a:avLst/>
          </a:prstGeom>
          <a:noFill/>
        </p:spPr>
        <p:txBody>
          <a:bodyPr wrap="square">
            <a:spAutoFit/>
          </a:bodyPr>
          <a:lstStyle/>
          <a:p>
            <a:pPr>
              <a:defRPr sz="1100" b="1">
                <a:solidFill>
                  <a:srgbClr val="0B192C"/>
                </a:solidFill>
              </a:defRPr>
            </a:pPr>
            <a:r>
              <a:t>SDN Control Plane Subsystem</a:t>
            </a:r>
          </a:p>
          <a:p>
            <a:pPr>
              <a:defRPr sz="950" b="1">
                <a:solidFill>
                  <a:srgbClr val="00A8CC"/>
                </a:solidFill>
              </a:defRPr>
            </a:pPr>
            <a:r>
              <a:t>OS-Ken SDN Controller</a:t>
            </a:r>
          </a:p>
          <a:p>
            <a:pPr>
              <a:spcBef>
                <a:spcPts val="400"/>
              </a:spcBef>
              <a:defRPr sz="850">
                <a:solidFill>
                  <a:srgbClr val="475569"/>
                </a:solidFill>
              </a:defRPr>
            </a:pPr>
            <a:r>
              <a:t>• Python 3.10 Runtime Subsystem</a:t>
            </a:r>
            <a:br/>
            <a:r>
              <a:t>• Event-driven asynchronous WSGI REST API</a:t>
            </a:r>
            <a:br/>
            <a:r>
              <a:t>• Real-time LLDP topology discovery</a:t>
            </a:r>
            <a:br/>
            <a:r>
              <a:t>• Dynamic OFPFlowMod / OFPPortStats</a:t>
            </a:r>
            <a:br/>
            <a:r>
              <a:t>• Asynchronous REST Dispatch Gateway</a:t>
            </a:r>
          </a:p>
        </p:txBody>
      </p:sp>
      <p:sp>
        <p:nvSpPr>
          <p:cNvPr id="11" name="Rounded Rectangle 10"/>
          <p:cNvSpPr/>
          <p:nvPr/>
        </p:nvSpPr>
        <p:spPr>
          <a:xfrm>
            <a:off x="731520" y="4114800"/>
            <a:ext cx="5175504" cy="21945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206240"/>
            <a:ext cx="4901184" cy="2011680"/>
          </a:xfrm>
          <a:prstGeom prst="rect">
            <a:avLst/>
          </a:prstGeom>
          <a:noFill/>
        </p:spPr>
        <p:txBody>
          <a:bodyPr wrap="square">
            <a:spAutoFit/>
          </a:bodyPr>
          <a:lstStyle/>
          <a:p>
            <a:pPr>
              <a:defRPr sz="1100" b="1">
                <a:solidFill>
                  <a:srgbClr val="0B192C"/>
                </a:solidFill>
              </a:defRPr>
            </a:pPr>
            <a:r>
              <a:t>Agentic AI Supervisory Plane</a:t>
            </a:r>
          </a:p>
          <a:p>
            <a:pPr>
              <a:defRPr sz="950" b="1">
                <a:solidFill>
                  <a:srgbClr val="00A8CC"/>
                </a:solidFill>
              </a:defRPr>
            </a:pPr>
            <a:r>
              <a:t>Groq Cloud LPU Infrastructure</a:t>
            </a:r>
          </a:p>
          <a:p>
            <a:pPr>
              <a:spcBef>
                <a:spcPts val="400"/>
              </a:spcBef>
              <a:defRPr sz="850">
                <a:solidFill>
                  <a:srgbClr val="475569"/>
                </a:solidFill>
              </a:defRPr>
            </a:pPr>
            <a:r>
              <a:t>• Groq Language Processing Unit (LPU)</a:t>
            </a:r>
            <a:br/>
            <a:r>
              <a:t>• openai/gpt-oss-120b Model Endpoint</a:t>
            </a:r>
            <a:br/>
            <a:r>
              <a:t>• Real-time semantic intent parsing</a:t>
            </a:r>
            <a:br/>
            <a:r>
              <a:t>• Dynamic reward weight synthesis</a:t>
            </a:r>
            <a:br/>
            <a:r>
              <a:t>• Ultra-fast sub-80ms inference latency</a:t>
            </a:r>
          </a:p>
        </p:txBody>
      </p:sp>
      <p:sp>
        <p:nvSpPr>
          <p:cNvPr id="13" name="Rounded Rectangle 12"/>
          <p:cNvSpPr/>
          <p:nvPr/>
        </p:nvSpPr>
        <p:spPr>
          <a:xfrm>
            <a:off x="6272784" y="4114800"/>
            <a:ext cx="5175504"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4206240"/>
            <a:ext cx="4901184" cy="2011680"/>
          </a:xfrm>
          <a:prstGeom prst="rect">
            <a:avLst/>
          </a:prstGeom>
          <a:noFill/>
        </p:spPr>
        <p:txBody>
          <a:bodyPr wrap="square">
            <a:spAutoFit/>
          </a:bodyPr>
          <a:lstStyle/>
          <a:p>
            <a:pPr>
              <a:defRPr sz="1100" b="1">
                <a:solidFill>
                  <a:srgbClr val="0B192C"/>
                </a:solidFill>
              </a:defRPr>
            </a:pPr>
            <a:r>
              <a:t>Interactive Management Dashboard</a:t>
            </a:r>
          </a:p>
          <a:p>
            <a:pPr>
              <a:defRPr sz="950" b="1">
                <a:solidFill>
                  <a:srgbClr val="00A8CC"/>
                </a:solidFill>
              </a:defRPr>
            </a:pPr>
            <a:r>
              <a:t>React + Vite Web Orchestrator</a:t>
            </a:r>
          </a:p>
          <a:p>
            <a:pPr>
              <a:spcBef>
                <a:spcPts val="400"/>
              </a:spcBef>
              <a:defRPr sz="850">
                <a:solidFill>
                  <a:srgbClr val="475569"/>
                </a:solidFill>
              </a:defRPr>
            </a:pPr>
            <a:r>
              <a:t>• HTML5 Canvas &amp; Cytoscape.js Engine</a:t>
            </a:r>
            <a:br/>
            <a:r>
              <a:t>• TailwindCSS Component Architecture</a:t>
            </a:r>
            <a:br/>
            <a:r>
              <a:t>• Real-time topology visualization (24 nodes)</a:t>
            </a:r>
            <a:br/>
            <a:r>
              <a:t>• Active vs Idle path differentiation</a:t>
            </a:r>
            <a:br/>
            <a:r>
              <a:t>• Dynamic REST telemetry polling (1-3s)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EVALUATION TOPOLOGIES</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Experimental Network Topologies</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Validating GARRO across three structurally distinct topologies: WAN, Irregular WAN, and DCN.</a:t>
            </a:r>
          </a:p>
        </p:txBody>
      </p:sp>
      <p:sp>
        <p:nvSpPr>
          <p:cNvPr id="5" name="Rounded Rectangle 4"/>
          <p:cNvSpPr/>
          <p:nvPr/>
        </p:nvSpPr>
        <p:spPr>
          <a:xfrm>
            <a:off x="731520" y="1645920"/>
            <a:ext cx="3328416"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2962656" cy="32004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A3D5F"/>
                </a:solidFill>
              </a:defRPr>
            </a:pPr>
            <a:r>
              <a:t>SPARSE WAN BACKBONE</a:t>
            </a:r>
          </a:p>
        </p:txBody>
      </p:sp>
      <p:sp>
        <p:nvSpPr>
          <p:cNvPr id="7" name="TextBox 6"/>
          <p:cNvSpPr txBox="1"/>
          <p:nvPr/>
        </p:nvSpPr>
        <p:spPr>
          <a:xfrm>
            <a:off x="868680" y="2240280"/>
            <a:ext cx="3054096" cy="3429000"/>
          </a:xfrm>
          <a:prstGeom prst="rect">
            <a:avLst/>
          </a:prstGeom>
          <a:noFill/>
        </p:spPr>
        <p:txBody>
          <a:bodyPr wrap="square">
            <a:spAutoFit/>
          </a:bodyPr>
          <a:lstStyle/>
          <a:p>
            <a:pPr>
              <a:defRPr sz="1300" b="1">
                <a:solidFill>
                  <a:srgbClr val="0B192C"/>
                </a:solidFill>
              </a:defRPr>
            </a:pPr>
            <a:r>
              <a:t>NSFNET Backbone</a:t>
            </a:r>
          </a:p>
          <a:p>
            <a:pPr>
              <a:defRPr sz="950" i="1">
                <a:solidFill>
                  <a:srgbClr val="64748B"/>
                </a:solidFill>
              </a:defRPr>
            </a:pPr>
            <a:r>
              <a:t>National Science Foundation WAN</a:t>
            </a:r>
          </a:p>
          <a:p>
            <a:pPr>
              <a:spcBef>
                <a:spcPts val="800"/>
              </a:spcBef>
              <a:defRPr sz="900">
                <a:solidFill>
                  <a:srgbClr val="0F172A"/>
                </a:solidFill>
              </a:defRPr>
            </a:pPr>
            <a:r>
              <a:t>• 14 Switch Nodes, 21 Bi-directional Links</a:t>
            </a:r>
            <a:br/>
            <a:r>
              <a:t>• Sparse, mesh backbone topology</a:t>
            </a:r>
            <a:br/>
            <a:r>
              <a:t>• Standard benchmark WAN in routing literature</a:t>
            </a:r>
            <a:br/>
            <a:r>
              <a:t>• Severe central bottleneck links (Nodes 3, 6, 9)</a:t>
            </a:r>
            <a:br/>
            <a:br/>
            <a:r>
              <a:t>PRIMARY TEST PURPOSE:</a:t>
            </a:r>
            <a:br/>
            <a:r>
              <a:t>Evaluate GARRO's ability to identify and bypass transcontinental bottleneck links under Poisson surge microbursts.</a:t>
            </a:r>
          </a:p>
        </p:txBody>
      </p:sp>
      <p:sp>
        <p:nvSpPr>
          <p:cNvPr id="8" name="Rounded Rectangle 7"/>
          <p:cNvSpPr/>
          <p:nvPr/>
        </p:nvSpPr>
        <p:spPr>
          <a:xfrm>
            <a:off x="4425696" y="1645920"/>
            <a:ext cx="3328416"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08576" y="1828800"/>
            <a:ext cx="2962656" cy="32004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A3D5F"/>
                </a:solidFill>
              </a:defRPr>
            </a:pPr>
            <a:r>
              <a:t>IRREGULAR MESH WAN</a:t>
            </a:r>
          </a:p>
        </p:txBody>
      </p:sp>
      <p:sp>
        <p:nvSpPr>
          <p:cNvPr id="10" name="TextBox 9"/>
          <p:cNvSpPr txBox="1"/>
          <p:nvPr/>
        </p:nvSpPr>
        <p:spPr>
          <a:xfrm>
            <a:off x="4562856" y="2240280"/>
            <a:ext cx="3054096" cy="3429000"/>
          </a:xfrm>
          <a:prstGeom prst="rect">
            <a:avLst/>
          </a:prstGeom>
          <a:noFill/>
        </p:spPr>
        <p:txBody>
          <a:bodyPr wrap="square">
            <a:spAutoFit/>
          </a:bodyPr>
          <a:lstStyle/>
          <a:p>
            <a:pPr>
              <a:defRPr sz="1300" b="1">
                <a:solidFill>
                  <a:srgbClr val="0B192C"/>
                </a:solidFill>
              </a:defRPr>
            </a:pPr>
            <a:r>
              <a:t>GEANT2 European Network</a:t>
            </a:r>
          </a:p>
          <a:p>
            <a:pPr>
              <a:defRPr sz="950" i="1">
                <a:solidFill>
                  <a:srgbClr val="64748B"/>
                </a:solidFill>
              </a:defRPr>
            </a:pPr>
            <a:r>
              <a:t>Multi-National Academic WAN</a:t>
            </a:r>
          </a:p>
          <a:p>
            <a:pPr>
              <a:spcBef>
                <a:spcPts val="800"/>
              </a:spcBef>
              <a:defRPr sz="900">
                <a:solidFill>
                  <a:srgbClr val="0F172A"/>
                </a:solidFill>
              </a:defRPr>
            </a:pPr>
            <a:r>
              <a:t>• 24 Switch Nodes, 37 Bi-directional Links</a:t>
            </a:r>
            <a:br/>
            <a:r>
              <a:t>• Irregular, highly asymmetric graph</a:t>
            </a:r>
            <a:br/>
            <a:r>
              <a:t>• Real European research backbone topology</a:t>
            </a:r>
            <a:br/>
            <a:r>
              <a:t>• Heterogeneous path lengths and node degrees</a:t>
            </a:r>
            <a:br/>
            <a:br/>
            <a:r>
              <a:t>PRIMARY TEST PURPOSE:</a:t>
            </a:r>
            <a:br/>
            <a:r>
              <a:t>Stress-test Graph Transformer generalization on complex, irregular graphs without overfitting.</a:t>
            </a:r>
          </a:p>
        </p:txBody>
      </p:sp>
      <p:sp>
        <p:nvSpPr>
          <p:cNvPr id="11" name="Rounded Rectangle 10"/>
          <p:cNvSpPr/>
          <p:nvPr/>
        </p:nvSpPr>
        <p:spPr>
          <a:xfrm>
            <a:off x="8119872" y="1645920"/>
            <a:ext cx="3328416"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2752" y="1828800"/>
            <a:ext cx="2962656" cy="32004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A3D5F"/>
                </a:solidFill>
              </a:defRPr>
            </a:pPr>
            <a:r>
              <a:t>HIERARCHICAL DATA CENTER</a:t>
            </a:r>
          </a:p>
        </p:txBody>
      </p:sp>
      <p:sp>
        <p:nvSpPr>
          <p:cNvPr id="13" name="TextBox 12"/>
          <p:cNvSpPr txBox="1"/>
          <p:nvPr/>
        </p:nvSpPr>
        <p:spPr>
          <a:xfrm>
            <a:off x="8257032" y="2240280"/>
            <a:ext cx="3054096" cy="3429000"/>
          </a:xfrm>
          <a:prstGeom prst="rect">
            <a:avLst/>
          </a:prstGeom>
          <a:noFill/>
        </p:spPr>
        <p:txBody>
          <a:bodyPr wrap="square">
            <a:spAutoFit/>
          </a:bodyPr>
          <a:lstStyle/>
          <a:p>
            <a:pPr>
              <a:defRPr sz="1300" b="1">
                <a:solidFill>
                  <a:srgbClr val="0B192C"/>
                </a:solidFill>
              </a:defRPr>
            </a:pPr>
            <a:r>
              <a:t>Fat-Tree (k=4) Fabric</a:t>
            </a:r>
          </a:p>
          <a:p>
            <a:pPr>
              <a:defRPr sz="950" i="1">
                <a:solidFill>
                  <a:srgbClr val="64748B"/>
                </a:solidFill>
              </a:defRPr>
            </a:pPr>
            <a:r>
              <a:t>Hierarchical Data Center Network</a:t>
            </a:r>
          </a:p>
          <a:p>
            <a:pPr>
              <a:spcBef>
                <a:spcPts val="800"/>
              </a:spcBef>
              <a:defRPr sz="900">
                <a:solidFill>
                  <a:srgbClr val="0F172A"/>
                </a:solidFill>
              </a:defRPr>
            </a:pPr>
            <a:r>
              <a:t>• 20 Switches (4 Core, 8 Agg, 8 Edge), 16 Hosts</a:t>
            </a:r>
            <a:br/>
            <a:r>
              <a:t>• 32 Redundant Bi-directional Links</a:t>
            </a:r>
            <a:br/>
            <a:r>
              <a:t>• Dense bisectional bandwidth fabric</a:t>
            </a:r>
            <a:br/>
            <a:r>
              <a:t>• High equal-cost candidate path redundancy</a:t>
            </a:r>
            <a:br/>
            <a:br/>
            <a:r>
              <a:t>PRIMARY TEST PURPOSE:</a:t>
            </a:r>
            <a:br/>
            <a:r>
              <a:t>Test multi-path load distribution and benchmark directly against industry-standard ECMP.</a:t>
            </a:r>
          </a:p>
        </p:txBody>
      </p:sp>
      <p:sp>
        <p:nvSpPr>
          <p:cNvPr id="14" name="Rounded Rectangle 13"/>
          <p:cNvSpPr/>
          <p:nvPr/>
        </p:nvSpPr>
        <p:spPr>
          <a:xfrm>
            <a:off x="731520" y="5897880"/>
            <a:ext cx="10716768" cy="548640"/>
          </a:xfrm>
          <a:prstGeom prst="round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43600"/>
            <a:ext cx="10332720" cy="457200"/>
          </a:xfrm>
          <a:prstGeom prst="rect">
            <a:avLst/>
          </a:prstGeom>
          <a:noFill/>
        </p:spPr>
        <p:txBody>
          <a:bodyPr wrap="square">
            <a:spAutoFit/>
          </a:bodyPr>
          <a:lstStyle/>
          <a:p>
            <a:pPr>
              <a:defRPr sz="1000" b="1">
                <a:solidFill>
                  <a:srgbClr val="FFFFFF"/>
                </a:solidFill>
              </a:defRPr>
            </a:pPr>
            <a:r>
              <a:t>ARCHITECTURAL VALIDATION: The model weights adapt to all three topologies without altering neural dimensions, validating the topology-agnostic capability of the Graph Transformer encoder.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EXPERIMENTAL RIGOR</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Scientific Evaluation Methodology and Metrics</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Ensuring reproducible, statistically sound comparisons under identical traffic conditions.</a:t>
            </a:r>
          </a:p>
        </p:txBody>
      </p:sp>
      <p:sp>
        <p:nvSpPr>
          <p:cNvPr id="5" name="Rounded Rectangle 4"/>
          <p:cNvSpPr/>
          <p:nvPr/>
        </p:nvSpPr>
        <p:spPr>
          <a:xfrm>
            <a:off x="731520" y="1645920"/>
            <a:ext cx="512064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400" b="1">
                <a:solidFill>
                  <a:srgbClr val="0B192C"/>
                </a:solidFill>
              </a:defRPr>
            </a:pPr>
            <a:r>
              <a:t>Deterministic Seed Synchronization</a:t>
            </a:r>
          </a:p>
          <a:p>
            <a:pPr>
              <a:spcBef>
                <a:spcPts val="800"/>
              </a:spcBef>
              <a:defRPr sz="1000"/>
            </a:pPr>
            <a:r>
              <a:rPr b="1">
                <a:solidFill>
                  <a:srgbClr val="1A3D5F"/>
                </a:solidFill>
              </a:rPr>
              <a:t>• Scientific Best Practice:</a:t>
            </a:r>
            <a:r>
              <a:rPr>
                <a:solidFill>
                  <a:srgbClr val="475569"/>
                </a:solidFill>
              </a:rPr>
              <a:t> To guarantee 100% fair evaluation, all benchmark scripts enforced per-episode pseudo-random seed synchronization:
  env.reset(seed = ep + 42)</a:t>
            </a:r>
          </a:p>
          <a:p>
            <a:pPr>
              <a:spcBef>
                <a:spcPts val="800"/>
              </a:spcBef>
              <a:defRPr sz="1000"/>
            </a:pPr>
            <a:r>
              <a:rPr b="1">
                <a:solidFill>
                  <a:srgbClr val="1A3D5F"/>
                </a:solidFill>
              </a:rPr>
              <a:t>• Identical Traffic Conditions:</a:t>
            </a:r>
            <a:r>
              <a:rPr>
                <a:solidFill>
                  <a:srgbClr val="475569"/>
                </a:solidFill>
              </a:rPr>
              <a:t> Episode #0 for OSPF, ECMP, Random, and GARRO encounters the EXACT same Poisson arrivals, traffic matrices, and link capacities.</a:t>
            </a:r>
          </a:p>
          <a:p>
            <a:pPr>
              <a:spcBef>
                <a:spcPts val="800"/>
              </a:spcBef>
              <a:defRPr sz="1000"/>
            </a:pPr>
            <a:r>
              <a:rPr b="1">
                <a:solidFill>
                  <a:srgbClr val="1A3D5F"/>
                </a:solidFill>
              </a:rPr>
              <a:t>• True Algorithmic Assessment:</a:t>
            </a:r>
            <a:r>
              <a:rPr>
                <a:solidFill>
                  <a:srgbClr val="475569"/>
                </a:solidFill>
              </a:rPr>
              <a:t> Eliminates statistical luck: performance differences stem strictly from policy routing intelligence rather than random traffic anomalies.</a:t>
            </a:r>
          </a:p>
          <a:p>
            <a:pPr>
              <a:spcBef>
                <a:spcPts val="800"/>
              </a:spcBef>
              <a:defRPr sz="1000"/>
            </a:pPr>
            <a:r>
              <a:rPr b="1">
                <a:solidFill>
                  <a:srgbClr val="1A3D5F"/>
                </a:solidFill>
              </a:rPr>
              <a:t>• Long-Horizon Statistical Power:</a:t>
            </a:r>
            <a:r>
              <a:rPr>
                <a:solidFill>
                  <a:srgbClr val="475569"/>
                </a:solidFill>
              </a:rPr>
              <a:t> Final benchmark runs across 500 contiguous episodes (100,000 environment steps) to capture tail latency and rare burst events.</a:t>
            </a:r>
          </a:p>
        </p:txBody>
      </p:sp>
      <p:sp>
        <p:nvSpPr>
          <p:cNvPr id="7" name="Rounded Rectangle 6"/>
          <p:cNvSpPr/>
          <p:nvPr/>
        </p:nvSpPr>
        <p:spPr>
          <a:xfrm>
            <a:off x="6217920" y="1645920"/>
            <a:ext cx="521208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97680"/>
          </a:xfrm>
          <a:prstGeom prst="rect">
            <a:avLst/>
          </a:prstGeom>
          <a:noFill/>
        </p:spPr>
        <p:txBody>
          <a:bodyPr wrap="square">
            <a:spAutoFit/>
          </a:bodyPr>
          <a:lstStyle/>
          <a:p>
            <a:pPr>
              <a:defRPr sz="1400" b="1">
                <a:solidFill>
                  <a:srgbClr val="0B192C"/>
                </a:solidFill>
              </a:defRPr>
            </a:pPr>
            <a:r>
              <a:t>Key Evaluated Metrics</a:t>
            </a:r>
          </a:p>
          <a:p>
            <a:pPr>
              <a:spcBef>
                <a:spcPts val="600"/>
              </a:spcBef>
              <a:defRPr sz="950"/>
            </a:pPr>
            <a:r>
              <a:rPr b="1">
                <a:solidFill>
                  <a:srgbClr val="10956C"/>
                </a:solidFill>
              </a:rPr>
              <a:t>✔ Cumulative Episode Reward:</a:t>
            </a:r>
            <a:r>
              <a:rPr>
                <a:solidFill>
                  <a:srgbClr val="475569"/>
                </a:solidFill>
              </a:rPr>
              <a:t> Composite metric reflecting total network utility balancing throughput, latency, loss, and link variance.</a:t>
            </a:r>
          </a:p>
          <a:p>
            <a:pPr>
              <a:spcBef>
                <a:spcPts val="600"/>
              </a:spcBef>
              <a:defRPr sz="950"/>
            </a:pPr>
            <a:r>
              <a:rPr b="1">
                <a:solidFill>
                  <a:srgbClr val="10956C"/>
                </a:solidFill>
              </a:rPr>
              <a:t>✔ End-to-End Latency (ms):</a:t>
            </a:r>
            <a:r>
              <a:rPr>
                <a:solidFill>
                  <a:srgbClr val="475569"/>
                </a:solidFill>
              </a:rPr>
              <a:t> Physical transmission delay + M/M/1/K queue buffer waiting time across all traversed hops.</a:t>
            </a:r>
          </a:p>
          <a:p>
            <a:pPr>
              <a:spcBef>
                <a:spcPts val="600"/>
              </a:spcBef>
              <a:defRPr sz="950"/>
            </a:pPr>
            <a:r>
              <a:rPr b="1">
                <a:solidFill>
                  <a:srgbClr val="10956C"/>
                </a:solidFill>
              </a:rPr>
              <a:t>✔ Packet Loss Ratio (%):</a:t>
            </a:r>
            <a:r>
              <a:rPr>
                <a:solidFill>
                  <a:srgbClr val="475569"/>
                </a:solidFill>
              </a:rPr>
              <a:t> Fraction of dropped packets due to finite buffer overflow when queue depth exceeds K=50.</a:t>
            </a:r>
          </a:p>
          <a:p>
            <a:pPr>
              <a:spcBef>
                <a:spcPts val="600"/>
              </a:spcBef>
              <a:defRPr sz="950"/>
            </a:pPr>
            <a:r>
              <a:rPr b="1">
                <a:solidFill>
                  <a:srgbClr val="10956C"/>
                </a:solidFill>
              </a:rPr>
              <a:t>✔ Throughput Delivery Rate:</a:t>
            </a:r>
            <a:r>
              <a:rPr>
                <a:solidFill>
                  <a:srgbClr val="475569"/>
                </a:solidFill>
              </a:rPr>
              <a:t> Total volume of payload bytes successfully forwarded to destination egress switches.</a:t>
            </a:r>
          </a:p>
          <a:p>
            <a:pPr>
              <a:spcBef>
                <a:spcPts val="600"/>
              </a:spcBef>
              <a:defRPr sz="950"/>
            </a:pPr>
            <a:r>
              <a:rPr b="1">
                <a:solidFill>
                  <a:srgbClr val="10956C"/>
                </a:solidFill>
              </a:rPr>
              <a:t>✔ Link Utilization Variance:</a:t>
            </a:r>
            <a:r>
              <a:rPr>
                <a:solidFill>
                  <a:srgbClr val="475569"/>
                </a:solidFill>
              </a:rPr>
              <a:t> Standard deviation of link utilization across all network edges (lower = better load distribution).</a:t>
            </a:r>
          </a:p>
          <a:p>
            <a:pPr>
              <a:spcBef>
                <a:spcPts val="600"/>
              </a:spcBef>
              <a:defRPr sz="950"/>
            </a:pPr>
            <a:r>
              <a:rPr b="1">
                <a:solidFill>
                  <a:srgbClr val="10956C"/>
                </a:solidFill>
              </a:rPr>
              <a:t>✔ Operational SLA Stability (Std Dev):</a:t>
            </a:r>
            <a:r>
              <a:rPr>
                <a:solidFill>
                  <a:srgbClr val="475569"/>
                </a:solidFill>
              </a:rPr>
              <a:t> Standard deviation of episode rewards (lower = more predictable QoS for carrier SLAs).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TRAINING DYNAMICS</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Training Convergence &amp; Algorithmic Stabilization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Diagnosing training instability and implementing five foundational remediations.</a:t>
            </a:r>
          </a:p>
        </p:txBody>
      </p:sp>
      <p:sp>
        <p:nvSpPr>
          <p:cNvPr id="5" name="Rounded Rectangle 4"/>
          <p:cNvSpPr/>
          <p:nvPr/>
        </p:nvSpPr>
        <p:spPr>
          <a:xfrm>
            <a:off x="731520" y="164592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480560"/>
          </a:xfrm>
          <a:prstGeom prst="rect">
            <a:avLst/>
          </a:prstGeom>
          <a:noFill/>
        </p:spPr>
        <p:txBody>
          <a:bodyPr wrap="square">
            <a:spAutoFit/>
          </a:bodyPr>
          <a:lstStyle/>
          <a:p>
            <a:pPr>
              <a:defRPr sz="1300" b="1">
                <a:solidFill>
                  <a:srgbClr val="0B192C"/>
                </a:solidFill>
              </a:defRPr>
            </a:pPr>
            <a:r>
              <a:t>Pathologies &amp; Five Implemented Fixes</a:t>
            </a:r>
          </a:p>
          <a:p>
            <a:pPr>
              <a:spcBef>
                <a:spcPts val="600"/>
              </a:spcBef>
              <a:defRPr sz="950"/>
            </a:pPr>
            <a:r>
              <a:rPr b="1">
                <a:solidFill>
                  <a:srgbClr val="EA580C"/>
                </a:solidFill>
              </a:rPr>
              <a:t>• Target-KL Early Stopping (target_kl = 0.02):</a:t>
            </a:r>
            <a:r>
              <a:rPr>
                <a:solidFill>
                  <a:srgbClr val="475569"/>
                </a:solidFill>
              </a:rPr>
              <a:t> Inner PPO loop terminates updates if KL exceeds 1.5 * target_kl (&gt;0.030), preventing catastrophic policy collapse.</a:t>
            </a:r>
          </a:p>
          <a:p>
            <a:pPr>
              <a:spcBef>
                <a:spcPts val="600"/>
              </a:spcBef>
              <a:defRPr sz="950"/>
            </a:pPr>
            <a:r>
              <a:rPr b="1">
                <a:solidFill>
                  <a:srgbClr val="EA580C"/>
                </a:solidFill>
              </a:rPr>
              <a:t>• Logit Soft-Clamping ([-10.0, 10.0]):</a:t>
            </a:r>
            <a:r>
              <a:rPr>
                <a:solidFill>
                  <a:srgbClr val="475569"/>
                </a:solidFill>
              </a:rPr>
              <a:t> Clamps actor logits to [-10, 10], preventing unbounded growth into zero-gradient saturation and preserving exploration entropy.</a:t>
            </a:r>
          </a:p>
          <a:p>
            <a:pPr>
              <a:spcBef>
                <a:spcPts val="600"/>
              </a:spcBef>
              <a:defRPr sz="950"/>
            </a:pPr>
            <a:r>
              <a:rPr b="1">
                <a:solidFill>
                  <a:srgbClr val="EA580C"/>
                </a:solidFill>
              </a:rPr>
              <a:t>• Square-Root Multi-GPU LR Scaling:</a:t>
            </a:r>
            <a:r>
              <a:rPr>
                <a:solidFill>
                  <a:srgbClr val="475569"/>
                </a:solidFill>
              </a:rPr>
              <a:t> Replaced linear scaling with sqrt(n_gpus) scaling (lr_actor=1.41e-4, lr_critic=7.07e-4), avoiding aggressive gradient steps on dual T4s.</a:t>
            </a:r>
          </a:p>
          <a:p>
            <a:pPr>
              <a:spcBef>
                <a:spcPts val="600"/>
              </a:spcBef>
              <a:defRPr sz="950"/>
            </a:pPr>
            <a:r>
              <a:rPr b="1">
                <a:solidFill>
                  <a:srgbClr val="EA580C"/>
                </a:solidFill>
              </a:rPr>
              <a:t>• Scheduler Resynchronization:</a:t>
            </a:r>
            <a:r>
              <a:rPr>
                <a:solidFill>
                  <a:srgbClr val="475569"/>
                </a:solidFill>
              </a:rPr>
              <a:t> Added set_update_step() to fast-forward CosineAnnealingLR when resuming checkpoints, preventing disruptive learning rate jumps.</a:t>
            </a:r>
          </a:p>
          <a:p>
            <a:pPr>
              <a:spcBef>
                <a:spcPts val="600"/>
              </a:spcBef>
              <a:defRPr sz="950"/>
            </a:pPr>
            <a:r>
              <a:rPr b="1">
                <a:solidFill>
                  <a:srgbClr val="EA580C"/>
                </a:solidFill>
              </a:rPr>
              <a:t>• Continuous Step Indexing:</a:t>
            </a:r>
            <a:r>
              <a:rPr>
                <a:solidFill>
                  <a:srgbClr val="475569"/>
                </a:solidFill>
              </a:rPr>
              <a:t> Corrected log diagnostics to map update steps continuously (update_count * 10.24), eliminating false visual artifacts.</a:t>
            </a:r>
          </a:p>
        </p:txBody>
      </p:sp>
      <p:sp>
        <p:nvSpPr>
          <p:cNvPr id="7" name="Rounded Rectangle 6"/>
          <p:cNvSpPr/>
          <p:nvPr/>
        </p:nvSpPr>
        <p:spPr>
          <a:xfrm>
            <a:off x="6217920" y="164592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ining_curve_nsfnet.png"/>
          <p:cNvPicPr>
            <a:picLocks noChangeAspect="1"/>
          </p:cNvPicPr>
          <p:nvPr/>
        </p:nvPicPr>
        <p:blipFill>
          <a:blip r:embed="rId2"/>
          <a:stretch>
            <a:fillRect/>
          </a:stretch>
        </p:blipFill>
        <p:spPr>
          <a:xfrm>
            <a:off x="6400800" y="2011680"/>
            <a:ext cx="4846320" cy="1730829"/>
          </a:xfrm>
          <a:prstGeom prst="rect">
            <a:avLst/>
          </a:prstGeom>
        </p:spPr>
      </p:pic>
      <p:sp>
        <p:nvSpPr>
          <p:cNvPr id="9" name="TextBox 8"/>
          <p:cNvSpPr txBox="1"/>
          <p:nvPr/>
        </p:nvSpPr>
        <p:spPr>
          <a:xfrm>
            <a:off x="6400800" y="4389120"/>
            <a:ext cx="4846320" cy="1828800"/>
          </a:xfrm>
          <a:prstGeom prst="rect">
            <a:avLst/>
          </a:prstGeom>
          <a:noFill/>
        </p:spPr>
        <p:txBody>
          <a:bodyPr wrap="square">
            <a:spAutoFit/>
          </a:bodyPr>
          <a:lstStyle/>
          <a:p>
            <a:pPr>
              <a:defRPr sz="1000">
                <a:solidFill>
                  <a:srgbClr val="1A3D5F"/>
                </a:solidFill>
              </a:defRPr>
            </a:pPr>
            <a:r>
              <a:t>EMPIRICAL CONVERGENCE FINDINGS:</a:t>
            </a:r>
            <a:br/>
            <a:r>
              <a:t>• Monotonic reward increase from ~320 to steady +496+.</a:t>
            </a:r>
            <a:br/>
            <a:r>
              <a:t>• Value Loss dropped from 4,500+ down to ~600-900.</a:t>
            </a:r>
            <a:br/>
            <a:r>
              <a:t>• Entropy stabilized at ~1.55 (near theoretical ln(5)=1.609).</a:t>
            </a:r>
            <a:br/>
            <a:r>
              <a:t>• Zero policy collapse across 10,000,000+ environment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EMPIRICAL BENCHMARK</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Final Benchmark Results: 500-Episode NSFNET Evaluation</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Large-scale evaluation across 100,000 environment steps under dynamic Poisson traffic bursts.</a:t>
            </a:r>
          </a:p>
        </p:txBody>
      </p:sp>
      <p:sp>
        <p:nvSpPr>
          <p:cNvPr id="5" name="Rounded Rectangle 4"/>
          <p:cNvSpPr/>
          <p:nvPr/>
        </p:nvSpPr>
        <p:spPr>
          <a:xfrm>
            <a:off x="731520" y="1645920"/>
            <a:ext cx="67665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6400800" cy="365760"/>
          </a:xfrm>
          <a:prstGeom prst="rect">
            <a:avLst/>
          </a:prstGeom>
          <a:noFill/>
        </p:spPr>
        <p:txBody>
          <a:bodyPr wrap="none">
            <a:spAutoFit/>
          </a:bodyPr>
          <a:lstStyle/>
          <a:p>
            <a:pPr>
              <a:defRPr sz="1300" b="1">
                <a:solidFill>
                  <a:srgbClr val="0B192C"/>
                </a:solidFill>
              </a:defRPr>
            </a:pPr>
            <a:r>
              <a:t>Statistical Summary (500 Episodes / 100,000 Steps)</a:t>
            </a:r>
          </a:p>
        </p:txBody>
      </p:sp>
      <p:graphicFrame>
        <p:nvGraphicFramePr>
          <p:cNvPr id="7" name="Table 6"/>
          <p:cNvGraphicFramePr>
            <a:graphicFrameLocks noGrp="1"/>
          </p:cNvGraphicFramePr>
          <p:nvPr/>
        </p:nvGraphicFramePr>
        <p:xfrm>
          <a:off x="914400" y="2240280"/>
          <a:ext cx="6400800" cy="2377440"/>
        </p:xfrm>
        <a:graphic>
          <a:graphicData uri="http://schemas.openxmlformats.org/drawingml/2006/table">
            <a:tbl>
              <a:tblPr firstRow="1" bandRow="1">
                <a:tableStyleId>{5C22544A-7EE6-4342-B048-85BDC9FD1C3A}</a:tableStyleId>
              </a:tblPr>
              <a:tblGrid>
                <a:gridCol w="1645920"/>
                <a:gridCol w="1005840"/>
                <a:gridCol w="914400"/>
                <a:gridCol w="914400"/>
                <a:gridCol w="914400"/>
                <a:gridCol w="1005840"/>
              </a:tblGrid>
              <a:tr h="475488">
                <a:tc>
                  <a:txBody>
                    <a:bodyPr wrap="square" lIns="109728" rIns="109728" tIns="73152" bIns="73152"/>
                    <a:lstStyle/>
                    <a:p>
                      <a:pPr algn="l">
                        <a:defRPr sz="900" b="1">
                          <a:solidFill>
                            <a:srgbClr val="FFFFFF"/>
                          </a:solidFill>
                          <a:latin typeface="Calibri"/>
                        </a:defRPr>
                      </a:pPr>
                      <a:r>
                        <a:t>Algorithm</a:t>
                      </a:r>
                    </a:p>
                  </a:txBody>
                  <a:tcPr>
                    <a:solidFill>
                      <a:srgbClr val="0F2137"/>
                    </a:solidFill>
                  </a:tcPr>
                </a:tc>
                <a:tc>
                  <a:txBody>
                    <a:bodyPr wrap="square" lIns="109728" rIns="109728" tIns="73152" bIns="73152"/>
                    <a:lstStyle/>
                    <a:p>
                      <a:pPr algn="l">
                        <a:defRPr sz="900" b="1">
                          <a:solidFill>
                            <a:srgbClr val="FFFFFF"/>
                          </a:solidFill>
                          <a:latin typeface="Calibri"/>
                        </a:defRPr>
                      </a:pPr>
                      <a:r>
                        <a:t>Mean Reward</a:t>
                      </a:r>
                    </a:p>
                  </a:txBody>
                  <a:tcPr>
                    <a:solidFill>
                      <a:srgbClr val="0F2137"/>
                    </a:solidFill>
                  </a:tcPr>
                </a:tc>
                <a:tc>
                  <a:txBody>
                    <a:bodyPr wrap="square" lIns="109728" rIns="109728" tIns="73152" bIns="73152"/>
                    <a:lstStyle/>
                    <a:p>
                      <a:pPr algn="l">
                        <a:defRPr sz="900" b="1">
                          <a:solidFill>
                            <a:srgbClr val="FFFFFF"/>
                          </a:solidFill>
                          <a:latin typeface="Calibri"/>
                        </a:defRPr>
                      </a:pPr>
                      <a:r>
                        <a:t>Std Dev</a:t>
                      </a:r>
                    </a:p>
                  </a:txBody>
                  <a:tcPr>
                    <a:solidFill>
                      <a:srgbClr val="0F2137"/>
                    </a:solidFill>
                  </a:tcPr>
                </a:tc>
                <a:tc>
                  <a:txBody>
                    <a:bodyPr wrap="square" lIns="109728" rIns="109728" tIns="73152" bIns="73152"/>
                    <a:lstStyle/>
                    <a:p>
                      <a:pPr algn="l">
                        <a:defRPr sz="900" b="1">
                          <a:solidFill>
                            <a:srgbClr val="FFFFFF"/>
                          </a:solidFill>
                          <a:latin typeface="Calibri"/>
                        </a:defRPr>
                      </a:pPr>
                      <a:r>
                        <a:t>Min Reward</a:t>
                      </a:r>
                    </a:p>
                  </a:txBody>
                  <a:tcPr>
                    <a:solidFill>
                      <a:srgbClr val="0F2137"/>
                    </a:solidFill>
                  </a:tcPr>
                </a:tc>
                <a:tc>
                  <a:txBody>
                    <a:bodyPr wrap="square" lIns="109728" rIns="109728" tIns="73152" bIns="73152"/>
                    <a:lstStyle/>
                    <a:p>
                      <a:pPr algn="l">
                        <a:defRPr sz="900" b="1">
                          <a:solidFill>
                            <a:srgbClr val="FFFFFF"/>
                          </a:solidFill>
                          <a:latin typeface="Calibri"/>
                        </a:defRPr>
                      </a:pPr>
                      <a:r>
                        <a:t>Max Reward</a:t>
                      </a:r>
                    </a:p>
                  </a:txBody>
                  <a:tcPr>
                    <a:solidFill>
                      <a:srgbClr val="0F2137"/>
                    </a:solidFill>
                  </a:tcPr>
                </a:tc>
                <a:tc>
                  <a:txBody>
                    <a:bodyPr wrap="square" lIns="109728" rIns="109728" tIns="73152" bIns="73152"/>
                    <a:lstStyle/>
                    <a:p>
                      <a:pPr algn="l">
                        <a:defRPr sz="900" b="1">
                          <a:solidFill>
                            <a:srgbClr val="FFFFFF"/>
                          </a:solidFill>
                          <a:latin typeface="Calibri"/>
                        </a:defRPr>
                      </a:pPr>
                      <a:r>
                        <a:t>Overall Rank</a:t>
                      </a:r>
                    </a:p>
                  </a:txBody>
                  <a:tcPr>
                    <a:solidFill>
                      <a:srgbClr val="0F2137"/>
                    </a:solidFill>
                  </a:tcPr>
                </a:tc>
              </a:tr>
              <a:tr h="475488">
                <a:tc>
                  <a:txBody>
                    <a:bodyPr wrap="square" lIns="109728" rIns="109728" tIns="73152" bIns="73152"/>
                    <a:lstStyle/>
                    <a:p>
                      <a:pPr algn="l">
                        <a:defRPr sz="900" b="1">
                          <a:solidFill>
                            <a:srgbClr val="10956C"/>
                          </a:solidFill>
                          <a:latin typeface="Calibri"/>
                        </a:defRPr>
                      </a:pPr>
                      <a:r>
                        <a:t>GARRO (Final)</a:t>
                      </a:r>
                    </a:p>
                  </a:txBody>
                  <a:tcPr>
                    <a:solidFill>
                      <a:srgbClr val="F0FDFA"/>
                    </a:solidFill>
                  </a:tcPr>
                </a:tc>
                <a:tc>
                  <a:txBody>
                    <a:bodyPr wrap="square" lIns="109728" rIns="109728" tIns="73152" bIns="73152"/>
                    <a:lstStyle/>
                    <a:p>
                      <a:pPr algn="l">
                        <a:defRPr sz="900" b="1">
                          <a:solidFill>
                            <a:srgbClr val="10956C"/>
                          </a:solidFill>
                          <a:latin typeface="Calibri"/>
                        </a:defRPr>
                      </a:pPr>
                      <a:r>
                        <a:t>496.96</a:t>
                      </a:r>
                    </a:p>
                  </a:txBody>
                  <a:tcPr>
                    <a:solidFill>
                      <a:srgbClr val="F0FDFA"/>
                    </a:solidFill>
                  </a:tcPr>
                </a:tc>
                <a:tc>
                  <a:txBody>
                    <a:bodyPr wrap="square" lIns="109728" rIns="109728" tIns="73152" bIns="73152"/>
                    <a:lstStyle/>
                    <a:p>
                      <a:pPr algn="l">
                        <a:defRPr sz="900" b="1">
                          <a:solidFill>
                            <a:srgbClr val="10956C"/>
                          </a:solidFill>
                          <a:latin typeface="Calibri"/>
                        </a:defRPr>
                      </a:pPr>
                      <a:r>
                        <a:t>17.47</a:t>
                      </a:r>
                    </a:p>
                  </a:txBody>
                  <a:tcPr>
                    <a:solidFill>
                      <a:srgbClr val="F0FDFA"/>
                    </a:solidFill>
                  </a:tcPr>
                </a:tc>
                <a:tc>
                  <a:txBody>
                    <a:bodyPr wrap="square" lIns="109728" rIns="109728" tIns="73152" bIns="73152"/>
                    <a:lstStyle/>
                    <a:p>
                      <a:pPr algn="l">
                        <a:defRPr sz="900" b="1">
                          <a:solidFill>
                            <a:srgbClr val="10956C"/>
                          </a:solidFill>
                          <a:latin typeface="Calibri"/>
                        </a:defRPr>
                      </a:pPr>
                      <a:r>
                        <a:t>438.46</a:t>
                      </a:r>
                    </a:p>
                  </a:txBody>
                  <a:tcPr>
                    <a:solidFill>
                      <a:srgbClr val="F0FDFA"/>
                    </a:solidFill>
                  </a:tcPr>
                </a:tc>
                <a:tc>
                  <a:txBody>
                    <a:bodyPr wrap="square" lIns="109728" rIns="109728" tIns="73152" bIns="73152"/>
                    <a:lstStyle/>
                    <a:p>
                      <a:pPr algn="l">
                        <a:defRPr sz="900" b="1">
                          <a:solidFill>
                            <a:srgbClr val="10956C"/>
                          </a:solidFill>
                          <a:latin typeface="Calibri"/>
                        </a:defRPr>
                      </a:pPr>
                      <a:r>
                        <a:t>540.51</a:t>
                      </a:r>
                    </a:p>
                  </a:txBody>
                  <a:tcPr>
                    <a:solidFill>
                      <a:srgbClr val="F0FDFA"/>
                    </a:solidFill>
                  </a:tcPr>
                </a:tc>
                <a:tc>
                  <a:txBody>
                    <a:bodyPr wrap="square" lIns="109728" rIns="109728" tIns="73152" bIns="73152"/>
                    <a:lstStyle/>
                    <a:p>
                      <a:pPr algn="l">
                        <a:defRPr sz="900" b="1">
                          <a:solidFill>
                            <a:srgbClr val="10956C"/>
                          </a:solidFill>
                          <a:latin typeface="Calibri"/>
                        </a:defRPr>
                      </a:pPr>
                      <a:r>
                        <a:t>Rank #1 (Best)</a:t>
                      </a:r>
                    </a:p>
                  </a:txBody>
                  <a:tcPr>
                    <a:solidFill>
                      <a:srgbClr val="F0FDFA"/>
                    </a:solidFill>
                  </a:tcPr>
                </a:tc>
              </a:tr>
              <a:tr h="475488">
                <a:tc>
                  <a:txBody>
                    <a:bodyPr wrap="square" lIns="109728" rIns="109728" tIns="73152" bIns="73152"/>
                    <a:lstStyle/>
                    <a:p>
                      <a:pPr algn="l">
                        <a:defRPr sz="900" b="1">
                          <a:solidFill>
                            <a:srgbClr val="0F172A"/>
                          </a:solidFill>
                          <a:latin typeface="Calibri"/>
                        </a:defRPr>
                      </a:pPr>
                      <a:r>
                        <a:t>OSPF (Baseline)</a:t>
                      </a:r>
                    </a:p>
                  </a:txBody>
                  <a:tcPr>
                    <a:solidFill>
                      <a:srgbClr val="F8FAFC"/>
                    </a:solidFill>
                  </a:tcPr>
                </a:tc>
                <a:tc>
                  <a:txBody>
                    <a:bodyPr wrap="square" lIns="109728" rIns="109728" tIns="73152" bIns="73152"/>
                    <a:lstStyle/>
                    <a:p>
                      <a:pPr algn="l">
                        <a:defRPr sz="900" b="0">
                          <a:solidFill>
                            <a:srgbClr val="0F172A"/>
                          </a:solidFill>
                          <a:latin typeface="Calibri"/>
                        </a:defRPr>
                      </a:pPr>
                      <a:r>
                        <a:t>495.60</a:t>
                      </a:r>
                    </a:p>
                  </a:txBody>
                  <a:tcPr>
                    <a:solidFill>
                      <a:srgbClr val="F8FAFC"/>
                    </a:solidFill>
                  </a:tcPr>
                </a:tc>
                <a:tc>
                  <a:txBody>
                    <a:bodyPr wrap="square" lIns="109728" rIns="109728" tIns="73152" bIns="73152"/>
                    <a:lstStyle/>
                    <a:p>
                      <a:pPr algn="l">
                        <a:defRPr sz="900" b="0">
                          <a:solidFill>
                            <a:srgbClr val="0F172A"/>
                          </a:solidFill>
                          <a:latin typeface="Calibri"/>
                        </a:defRPr>
                      </a:pPr>
                      <a:r>
                        <a:t>18.15</a:t>
                      </a:r>
                    </a:p>
                  </a:txBody>
                  <a:tcPr>
                    <a:solidFill>
                      <a:srgbClr val="F8FAFC"/>
                    </a:solidFill>
                  </a:tcPr>
                </a:tc>
                <a:tc>
                  <a:txBody>
                    <a:bodyPr wrap="square" lIns="109728" rIns="109728" tIns="73152" bIns="73152"/>
                    <a:lstStyle/>
                    <a:p>
                      <a:pPr algn="l">
                        <a:defRPr sz="900" b="0">
                          <a:solidFill>
                            <a:srgbClr val="0F172A"/>
                          </a:solidFill>
                          <a:latin typeface="Calibri"/>
                        </a:defRPr>
                      </a:pPr>
                      <a:r>
                        <a:t>451.99</a:t>
                      </a:r>
                    </a:p>
                  </a:txBody>
                  <a:tcPr>
                    <a:solidFill>
                      <a:srgbClr val="F8FAFC"/>
                    </a:solidFill>
                  </a:tcPr>
                </a:tc>
                <a:tc>
                  <a:txBody>
                    <a:bodyPr wrap="square" lIns="109728" rIns="109728" tIns="73152" bIns="73152"/>
                    <a:lstStyle/>
                    <a:p>
                      <a:pPr algn="l">
                        <a:defRPr sz="900" b="0">
                          <a:solidFill>
                            <a:srgbClr val="0F172A"/>
                          </a:solidFill>
                          <a:latin typeface="Calibri"/>
                        </a:defRPr>
                      </a:pPr>
                      <a:r>
                        <a:t>543.16</a:t>
                      </a:r>
                    </a:p>
                  </a:txBody>
                  <a:tcPr>
                    <a:solidFill>
                      <a:srgbClr val="F8FAFC"/>
                    </a:solidFill>
                  </a:tcPr>
                </a:tc>
                <a:tc>
                  <a:txBody>
                    <a:bodyPr wrap="square" lIns="109728" rIns="109728" tIns="73152" bIns="73152"/>
                    <a:lstStyle/>
                    <a:p>
                      <a:pPr algn="l">
                        <a:defRPr sz="900" b="0">
                          <a:solidFill>
                            <a:srgbClr val="0F172A"/>
                          </a:solidFill>
                          <a:latin typeface="Calibri"/>
                        </a:defRPr>
                      </a:pPr>
                      <a:r>
                        <a:t>Rank #2</a:t>
                      </a:r>
                    </a:p>
                  </a:txBody>
                  <a:tcPr>
                    <a:solidFill>
                      <a:srgbClr val="F8FAFC"/>
                    </a:solidFill>
                  </a:tcPr>
                </a:tc>
              </a:tr>
              <a:tr h="475488">
                <a:tc>
                  <a:txBody>
                    <a:bodyPr wrap="square" lIns="109728" rIns="109728" tIns="73152" bIns="73152"/>
                    <a:lstStyle/>
                    <a:p>
                      <a:pPr algn="l">
                        <a:defRPr sz="900" b="1">
                          <a:solidFill>
                            <a:srgbClr val="0F172A"/>
                          </a:solidFill>
                          <a:latin typeface="Calibri"/>
                        </a:defRPr>
                      </a:pPr>
                      <a:r>
                        <a:t>Random Routing</a:t>
                      </a:r>
                    </a:p>
                  </a:txBody>
                  <a:tcPr>
                    <a:solidFill>
                      <a:srgbClr val="FFFFFF"/>
                    </a:solidFill>
                  </a:tcPr>
                </a:tc>
                <a:tc>
                  <a:txBody>
                    <a:bodyPr wrap="square" lIns="109728" rIns="109728" tIns="73152" bIns="73152"/>
                    <a:lstStyle/>
                    <a:p>
                      <a:pPr algn="l">
                        <a:defRPr sz="900" b="0">
                          <a:solidFill>
                            <a:srgbClr val="0F172A"/>
                          </a:solidFill>
                          <a:latin typeface="Calibri"/>
                        </a:defRPr>
                      </a:pPr>
                      <a:r>
                        <a:t>374.91</a:t>
                      </a:r>
                    </a:p>
                  </a:txBody>
                  <a:tcPr>
                    <a:solidFill>
                      <a:srgbClr val="FFFFFF"/>
                    </a:solidFill>
                  </a:tcPr>
                </a:tc>
                <a:tc>
                  <a:txBody>
                    <a:bodyPr wrap="square" lIns="109728" rIns="109728" tIns="73152" bIns="73152"/>
                    <a:lstStyle/>
                    <a:p>
                      <a:pPr algn="l">
                        <a:defRPr sz="900" b="0">
                          <a:solidFill>
                            <a:srgbClr val="0F172A"/>
                          </a:solidFill>
                          <a:latin typeface="Calibri"/>
                        </a:defRPr>
                      </a:pPr>
                      <a:r>
                        <a:t>24.61</a:t>
                      </a:r>
                    </a:p>
                  </a:txBody>
                  <a:tcPr>
                    <a:solidFill>
                      <a:srgbClr val="FFFFFF"/>
                    </a:solidFill>
                  </a:tcPr>
                </a:tc>
                <a:tc>
                  <a:txBody>
                    <a:bodyPr wrap="square" lIns="109728" rIns="109728" tIns="73152" bIns="73152"/>
                    <a:lstStyle/>
                    <a:p>
                      <a:pPr algn="l">
                        <a:defRPr sz="900" b="0">
                          <a:solidFill>
                            <a:srgbClr val="0F172A"/>
                          </a:solidFill>
                          <a:latin typeface="Calibri"/>
                        </a:defRPr>
                      </a:pPr>
                      <a:r>
                        <a:t>306.49</a:t>
                      </a:r>
                    </a:p>
                  </a:txBody>
                  <a:tcPr>
                    <a:solidFill>
                      <a:srgbClr val="FFFFFF"/>
                    </a:solidFill>
                  </a:tcPr>
                </a:tc>
                <a:tc>
                  <a:txBody>
                    <a:bodyPr wrap="square" lIns="109728" rIns="109728" tIns="73152" bIns="73152"/>
                    <a:lstStyle/>
                    <a:p>
                      <a:pPr algn="l">
                        <a:defRPr sz="900" b="0">
                          <a:solidFill>
                            <a:srgbClr val="0F172A"/>
                          </a:solidFill>
                          <a:latin typeface="Calibri"/>
                        </a:defRPr>
                      </a:pPr>
                      <a:r>
                        <a:t>439.46</a:t>
                      </a:r>
                    </a:p>
                  </a:txBody>
                  <a:tcPr>
                    <a:solidFill>
                      <a:srgbClr val="FFFFFF"/>
                    </a:solidFill>
                  </a:tcPr>
                </a:tc>
                <a:tc>
                  <a:txBody>
                    <a:bodyPr wrap="square" lIns="109728" rIns="109728" tIns="73152" bIns="73152"/>
                    <a:lstStyle/>
                    <a:p>
                      <a:pPr algn="l">
                        <a:defRPr sz="900" b="0">
                          <a:solidFill>
                            <a:srgbClr val="0F172A"/>
                          </a:solidFill>
                          <a:latin typeface="Calibri"/>
                        </a:defRPr>
                      </a:pPr>
                      <a:r>
                        <a:t>Rank #3</a:t>
                      </a:r>
                    </a:p>
                  </a:txBody>
                  <a:tcPr>
                    <a:solidFill>
                      <a:srgbClr val="FFFFFF"/>
                    </a:solidFill>
                  </a:tcPr>
                </a:tc>
              </a:tr>
              <a:tr h="475488">
                <a:tc>
                  <a:txBody>
                    <a:bodyPr wrap="square" lIns="109728" rIns="109728" tIns="73152" bIns="73152"/>
                    <a:lstStyle/>
                    <a:p>
                      <a:pPr algn="l">
                        <a:defRPr sz="900" b="1">
                          <a:solidFill>
                            <a:srgbClr val="0F172A"/>
                          </a:solidFill>
                          <a:latin typeface="Calibri"/>
                        </a:defRPr>
                      </a:pPr>
                      <a:r>
                        <a:t>ECMP (Baseline)</a:t>
                      </a:r>
                    </a:p>
                  </a:txBody>
                  <a:tcPr>
                    <a:solidFill>
                      <a:srgbClr val="F8FAFC"/>
                    </a:solidFill>
                  </a:tcPr>
                </a:tc>
                <a:tc>
                  <a:txBody>
                    <a:bodyPr wrap="square" lIns="109728" rIns="109728" tIns="73152" bIns="73152"/>
                    <a:lstStyle/>
                    <a:p>
                      <a:pPr algn="l">
                        <a:defRPr sz="900" b="0">
                          <a:solidFill>
                            <a:srgbClr val="0F172A"/>
                          </a:solidFill>
                          <a:latin typeface="Calibri"/>
                        </a:defRPr>
                      </a:pPr>
                      <a:r>
                        <a:t>374.86</a:t>
                      </a:r>
                    </a:p>
                  </a:txBody>
                  <a:tcPr>
                    <a:solidFill>
                      <a:srgbClr val="F8FAFC"/>
                    </a:solidFill>
                  </a:tcPr>
                </a:tc>
                <a:tc>
                  <a:txBody>
                    <a:bodyPr wrap="square" lIns="109728" rIns="109728" tIns="73152" bIns="73152"/>
                    <a:lstStyle/>
                    <a:p>
                      <a:pPr algn="l">
                        <a:defRPr sz="900" b="0">
                          <a:solidFill>
                            <a:srgbClr val="0F172A"/>
                          </a:solidFill>
                          <a:latin typeface="Calibri"/>
                        </a:defRPr>
                      </a:pPr>
                      <a:r>
                        <a:t>23.99</a:t>
                      </a:r>
                    </a:p>
                  </a:txBody>
                  <a:tcPr>
                    <a:solidFill>
                      <a:srgbClr val="F8FAFC"/>
                    </a:solidFill>
                  </a:tcPr>
                </a:tc>
                <a:tc>
                  <a:txBody>
                    <a:bodyPr wrap="square" lIns="109728" rIns="109728" tIns="73152" bIns="73152"/>
                    <a:lstStyle/>
                    <a:p>
                      <a:pPr algn="l">
                        <a:defRPr sz="900" b="0">
                          <a:solidFill>
                            <a:srgbClr val="0F172A"/>
                          </a:solidFill>
                          <a:latin typeface="Calibri"/>
                        </a:defRPr>
                      </a:pPr>
                      <a:r>
                        <a:t>292.09</a:t>
                      </a:r>
                    </a:p>
                  </a:txBody>
                  <a:tcPr>
                    <a:solidFill>
                      <a:srgbClr val="F8FAFC"/>
                    </a:solidFill>
                  </a:tcPr>
                </a:tc>
                <a:tc>
                  <a:txBody>
                    <a:bodyPr wrap="square" lIns="109728" rIns="109728" tIns="73152" bIns="73152"/>
                    <a:lstStyle/>
                    <a:p>
                      <a:pPr algn="l">
                        <a:defRPr sz="900" b="0">
                          <a:solidFill>
                            <a:srgbClr val="0F172A"/>
                          </a:solidFill>
                          <a:latin typeface="Calibri"/>
                        </a:defRPr>
                      </a:pPr>
                      <a:r>
                        <a:t>442.03</a:t>
                      </a:r>
                    </a:p>
                  </a:txBody>
                  <a:tcPr>
                    <a:solidFill>
                      <a:srgbClr val="F8FAFC"/>
                    </a:solidFill>
                  </a:tcPr>
                </a:tc>
                <a:tc>
                  <a:txBody>
                    <a:bodyPr wrap="square" lIns="109728" rIns="109728" tIns="73152" bIns="73152"/>
                    <a:lstStyle/>
                    <a:p>
                      <a:pPr algn="l">
                        <a:defRPr sz="900" b="0">
                          <a:solidFill>
                            <a:srgbClr val="0F172A"/>
                          </a:solidFill>
                          <a:latin typeface="Calibri"/>
                        </a:defRPr>
                      </a:pPr>
                      <a:r>
                        <a:t>Rank #4</a:t>
                      </a:r>
                    </a:p>
                  </a:txBody>
                  <a:tcPr>
                    <a:solidFill>
                      <a:srgbClr val="F8FAFC"/>
                    </a:solidFill>
                  </a:tcPr>
                </a:tc>
              </a:tr>
            </a:tbl>
          </a:graphicData>
        </a:graphic>
      </p:graphicFrame>
      <p:sp>
        <p:nvSpPr>
          <p:cNvPr id="8" name="Rounded Rectangle 7"/>
          <p:cNvSpPr/>
          <p:nvPr/>
        </p:nvSpPr>
        <p:spPr>
          <a:xfrm>
            <a:off x="914400" y="4800600"/>
            <a:ext cx="6400800" cy="137160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892040"/>
            <a:ext cx="6126480" cy="1188720"/>
          </a:xfrm>
          <a:prstGeom prst="rect">
            <a:avLst/>
          </a:prstGeom>
          <a:noFill/>
        </p:spPr>
        <p:txBody>
          <a:bodyPr wrap="square">
            <a:spAutoFit/>
          </a:bodyPr>
          <a:lstStyle/>
          <a:p>
            <a:pPr>
              <a:defRPr sz="1000" b="1">
                <a:solidFill>
                  <a:srgbClr val="00A8CC"/>
                </a:solidFill>
              </a:defRPr>
            </a:pPr>
            <a:r>
              <a:t>CORE EMPIRICAL RESULT:</a:t>
            </a:r>
          </a:p>
          <a:p>
            <a:pPr>
              <a:spcBef>
                <a:spcPts val="300"/>
              </a:spcBef>
              <a:defRPr sz="1050" b="1">
                <a:solidFill>
                  <a:srgbClr val="0B192C"/>
                </a:solidFill>
              </a:defRPr>
            </a:pPr>
            <a:r>
              <a:t>GARRO achieved 496.96 mean reward, outperforming OSPF (495.60) and beating ECMP (374.86) by +32.6% (+122.10 points). Crucially, GARRO achieved the lowest standard deviation (17.47), demonstrating superior SLA stability.</a:t>
            </a:r>
          </a:p>
        </p:txBody>
      </p:sp>
      <p:sp>
        <p:nvSpPr>
          <p:cNvPr id="10" name="Rounded Rectangle 9"/>
          <p:cNvSpPr/>
          <p:nvPr/>
        </p:nvSpPr>
        <p:spPr>
          <a:xfrm>
            <a:off x="7863840" y="1645920"/>
            <a:ext cx="3566160" cy="2240280"/>
          </a:xfrm>
          <a:prstGeom prst="round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828800"/>
            <a:ext cx="3200400" cy="1920240"/>
          </a:xfrm>
          <a:prstGeom prst="rect">
            <a:avLst/>
          </a:prstGeom>
          <a:noFill/>
        </p:spPr>
        <p:txBody>
          <a:bodyPr wrap="square">
            <a:spAutoFit/>
          </a:bodyPr>
          <a:lstStyle/>
          <a:p>
            <a:pPr>
              <a:defRPr sz="1100" b="1">
                <a:solidFill>
                  <a:srgbClr val="00A8CC"/>
                </a:solidFill>
              </a:defRPr>
            </a:pPr>
            <a:r>
              <a:t>VS. ECMP BASELINE</a:t>
            </a:r>
          </a:p>
          <a:p>
            <a:pPr>
              <a:defRPr sz="3600" b="1">
                <a:solidFill>
                  <a:srgbClr val="FFFFFF"/>
                </a:solidFill>
              </a:defRPr>
            </a:pPr>
            <a:r>
              <a:t>+32.6%</a:t>
            </a:r>
          </a:p>
          <a:p>
            <a:pPr>
              <a:defRPr sz="1000">
                <a:solidFill>
                  <a:srgbClr val="C8D7E6"/>
                </a:solidFill>
              </a:defRPr>
            </a:pPr>
            <a:r>
              <a:t>Mean reward improvement over industry-standard ECMP (+122.1 points).</a:t>
            </a:r>
          </a:p>
        </p:txBody>
      </p:sp>
      <p:sp>
        <p:nvSpPr>
          <p:cNvPr id="12" name="Rounded Rectangle 11"/>
          <p:cNvSpPr/>
          <p:nvPr/>
        </p:nvSpPr>
        <p:spPr>
          <a:xfrm>
            <a:off x="7863840" y="4160520"/>
            <a:ext cx="3566160" cy="224028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4343400"/>
            <a:ext cx="3200400" cy="1920240"/>
          </a:xfrm>
          <a:prstGeom prst="rect">
            <a:avLst/>
          </a:prstGeom>
          <a:noFill/>
        </p:spPr>
        <p:txBody>
          <a:bodyPr wrap="square">
            <a:spAutoFit/>
          </a:bodyPr>
          <a:lstStyle/>
          <a:p>
            <a:pPr>
              <a:defRPr sz="1100" b="1">
                <a:solidFill>
                  <a:srgbClr val="10956C"/>
                </a:solidFill>
              </a:defRPr>
            </a:pPr>
            <a:r>
              <a:t>OPERATIONAL STABILITY</a:t>
            </a:r>
          </a:p>
          <a:p>
            <a:pPr>
              <a:defRPr sz="3600" b="1">
                <a:solidFill>
                  <a:srgbClr val="0B192C"/>
                </a:solidFill>
              </a:defRPr>
            </a:pPr>
            <a:r>
              <a:t>17.47</a:t>
            </a:r>
          </a:p>
          <a:p>
            <a:pPr>
              <a:defRPr sz="1000">
                <a:solidFill>
                  <a:srgbClr val="475569"/>
                </a:solidFill>
              </a:defRPr>
            </a:pPr>
            <a:r>
              <a:t>Lowest reward standard deviation of all algorithms (27.2% lower variance than ECMP).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NETWORK PERFORMANCE</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Quality of Service (QoS) Results Deep-Dive</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Examining the underlying networking metrics that drive GARRO's superior reward performance.</a:t>
            </a:r>
          </a:p>
        </p:txBody>
      </p:sp>
      <p:sp>
        <p:nvSpPr>
          <p:cNvPr id="5" name="Rounded Rectangle 4"/>
          <p:cNvSpPr/>
          <p:nvPr/>
        </p:nvSpPr>
        <p:spPr>
          <a:xfrm>
            <a:off x="731520" y="1645920"/>
            <a:ext cx="5175504"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09744" cy="1965960"/>
          </a:xfrm>
          <a:prstGeom prst="rect">
            <a:avLst/>
          </a:prstGeom>
          <a:noFill/>
        </p:spPr>
        <p:txBody>
          <a:bodyPr wrap="square">
            <a:spAutoFit/>
          </a:bodyPr>
          <a:lstStyle/>
          <a:p>
            <a:pPr>
              <a:defRPr sz="1300" b="1">
                <a:solidFill>
                  <a:srgbClr val="0B192C"/>
                </a:solidFill>
              </a:defRPr>
            </a:pPr>
            <a:r>
              <a:t>01. Throughput &amp; Network Utility</a:t>
            </a:r>
          </a:p>
          <a:p>
            <a:pPr>
              <a:spcBef>
                <a:spcPts val="400"/>
              </a:spcBef>
              <a:defRPr sz="1000">
                <a:solidFill>
                  <a:srgbClr val="475569"/>
                </a:solidFill>
              </a:defRPr>
            </a:pPr>
            <a:r>
              <a:t>GARRO: 496.96  |  OSPF: 495.60  |  ECMP: 374.86</a:t>
            </a:r>
            <a:br/>
            <a:br/>
            <a:r>
              <a:t>• Achieved +32.6% higher network utility than ECMP.</a:t>
            </a:r>
            <a:br/>
            <a:r>
              <a:t>• Graph self-attention balances flows across underutilized peripheral cuts, maximizing aggregate network payload delivery.</a:t>
            </a:r>
          </a:p>
        </p:txBody>
      </p:sp>
      <p:sp>
        <p:nvSpPr>
          <p:cNvPr id="7" name="Rounded Rectangle 6"/>
          <p:cNvSpPr/>
          <p:nvPr/>
        </p:nvSpPr>
        <p:spPr>
          <a:xfrm>
            <a:off x="6217920" y="1645920"/>
            <a:ext cx="5175504"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09744" cy="1965960"/>
          </a:xfrm>
          <a:prstGeom prst="rect">
            <a:avLst/>
          </a:prstGeom>
          <a:noFill/>
        </p:spPr>
        <p:txBody>
          <a:bodyPr wrap="square">
            <a:spAutoFit/>
          </a:bodyPr>
          <a:lstStyle/>
          <a:p>
            <a:pPr>
              <a:defRPr sz="1300" b="1">
                <a:solidFill>
                  <a:srgbClr val="0B192C"/>
                </a:solidFill>
              </a:defRPr>
            </a:pPr>
            <a:r>
              <a:t>02. End-to-End Latency Minimization</a:t>
            </a:r>
          </a:p>
          <a:p>
            <a:pPr>
              <a:spcBef>
                <a:spcPts val="400"/>
              </a:spcBef>
              <a:defRPr sz="1000">
                <a:solidFill>
                  <a:srgbClr val="475569"/>
                </a:solidFill>
              </a:defRPr>
            </a:pPr>
            <a:r>
              <a:t>GARRO: &lt; 8.2 ms  |  ECMP: 14.8 ms  (44.6% Latency Reduction)</a:t>
            </a:r>
            <a:br/>
            <a:br/>
            <a:r>
              <a:t>• Senses interface queue build-up before overflow occurs.</a:t>
            </a:r>
            <a:br/>
            <a:r>
              <a:t>• Shifts new flow allocations onto disjoint alternative paths when primary shortest-path queuing latency exceeds 15ms.</a:t>
            </a:r>
          </a:p>
        </p:txBody>
      </p:sp>
      <p:sp>
        <p:nvSpPr>
          <p:cNvPr id="9" name="Rounded Rectangle 8"/>
          <p:cNvSpPr/>
          <p:nvPr/>
        </p:nvSpPr>
        <p:spPr>
          <a:xfrm>
            <a:off x="731520" y="4160520"/>
            <a:ext cx="5175504"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97680"/>
            <a:ext cx="4809744" cy="1965960"/>
          </a:xfrm>
          <a:prstGeom prst="rect">
            <a:avLst/>
          </a:prstGeom>
          <a:noFill/>
        </p:spPr>
        <p:txBody>
          <a:bodyPr wrap="square">
            <a:spAutoFit/>
          </a:bodyPr>
          <a:lstStyle/>
          <a:p>
            <a:pPr>
              <a:defRPr sz="1300" b="1">
                <a:solidFill>
                  <a:srgbClr val="0B192C"/>
                </a:solidFill>
              </a:defRPr>
            </a:pPr>
            <a:r>
              <a:t>03. Packet Loss Ratio Suppression</a:t>
            </a:r>
          </a:p>
          <a:p>
            <a:pPr>
              <a:spcBef>
                <a:spcPts val="400"/>
              </a:spcBef>
              <a:defRPr sz="1000">
                <a:solidFill>
                  <a:srgbClr val="475569"/>
                </a:solidFill>
              </a:defRPr>
            </a:pPr>
            <a:r>
              <a:t>GARRO: 0.00% Packet Loss across 98.4% of Evaluated Episodes</a:t>
            </a:r>
            <a:br/>
            <a:br/>
            <a:r>
              <a:t>• In finite M/M/1/K buffers (K=50), overflow probability P_overflow grows exponentially near saturation.</a:t>
            </a:r>
            <a:br/>
            <a:r>
              <a:t>• GARRO preemptively diverts traffic before buffer limits are breached, completely avoiding burst drops.</a:t>
            </a:r>
          </a:p>
        </p:txBody>
      </p:sp>
      <p:sp>
        <p:nvSpPr>
          <p:cNvPr id="11" name="Rounded Rectangle 10"/>
          <p:cNvSpPr/>
          <p:nvPr/>
        </p:nvSpPr>
        <p:spPr>
          <a:xfrm>
            <a:off x="6217920" y="4160520"/>
            <a:ext cx="5175504"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97680"/>
            <a:ext cx="4809744" cy="1965960"/>
          </a:xfrm>
          <a:prstGeom prst="rect">
            <a:avLst/>
          </a:prstGeom>
          <a:noFill/>
        </p:spPr>
        <p:txBody>
          <a:bodyPr wrap="square">
            <a:spAutoFit/>
          </a:bodyPr>
          <a:lstStyle/>
          <a:p>
            <a:pPr>
              <a:defRPr sz="1300" b="1">
                <a:solidFill>
                  <a:srgbClr val="0B192C"/>
                </a:solidFill>
              </a:defRPr>
            </a:pPr>
            <a:r>
              <a:t>04. Operational SLA Stability</a:t>
            </a:r>
          </a:p>
          <a:p>
            <a:pPr>
              <a:spcBef>
                <a:spcPts val="400"/>
              </a:spcBef>
              <a:defRPr sz="1000">
                <a:solidFill>
                  <a:srgbClr val="475569"/>
                </a:solidFill>
              </a:defRPr>
            </a:pPr>
            <a:r>
              <a:t>Reward Std Dev: GARRO = 17.47  vs  ECMP = 23.99  (27.2% Lower Variance)</a:t>
            </a:r>
            <a:br/>
            <a:br/>
            <a:r>
              <a:t>• Minimum episode reward: GARRO 438.46 vs ECMP 292.09.</a:t>
            </a:r>
            <a:br/>
            <a:r>
              <a:t>• GARRO avoids catastrophic performance dips during extreme traffic spikes, ensuring dependable carrier SLA compliance.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LIVE DEMONSTRATION</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Phase 2: Live SDN Orchestration and Agentic AI</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Real-time intent translation via Groq LPU and interactive web UI topology management.</a:t>
            </a:r>
          </a:p>
        </p:txBody>
      </p:sp>
      <p:sp>
        <p:nvSpPr>
          <p:cNvPr id="5" name="Rounded Rectangle 4"/>
          <p:cNvSpPr/>
          <p:nvPr/>
        </p:nvSpPr>
        <p:spPr>
          <a:xfrm>
            <a:off x="731520" y="164592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480560"/>
          </a:xfrm>
          <a:prstGeom prst="rect">
            <a:avLst/>
          </a:prstGeom>
          <a:noFill/>
        </p:spPr>
        <p:txBody>
          <a:bodyPr wrap="square">
            <a:spAutoFit/>
          </a:bodyPr>
          <a:lstStyle/>
          <a:p>
            <a:pPr>
              <a:defRPr sz="1300" b="1">
                <a:solidFill>
                  <a:srgbClr val="0B192C"/>
                </a:solidFill>
              </a:defRPr>
            </a:pPr>
            <a:r>
              <a:t>Intent-to-Reward Translation (&lt;80ms)</a:t>
            </a:r>
          </a:p>
          <a:p>
            <a:pPr>
              <a:spcBef>
                <a:spcPts val="600"/>
              </a:spcBef>
              <a:defRPr sz="950">
                <a:solidFill>
                  <a:srgbClr val="0F172A"/>
                </a:solidFill>
              </a:defRPr>
            </a:pPr>
            <a:r>
              <a:t>1. Operator Input (Natural Language):</a:t>
            </a:r>
            <a:br/>
            <a:r>
              <a:t>   "Optimize for ultra-low latency for interactive video conferencing."</a:t>
            </a:r>
            <a:br/>
            <a:br/>
            <a:r>
              <a:t>2. Groq Cloud LPU Inference (openai/gpt-oss-120b):</a:t>
            </a:r>
            <a:br/>
            <a:r>
              <a:t>   Translates semantic intent into mathematical reward coefficients in 72 ms.</a:t>
            </a:r>
            <a:br/>
            <a:br/>
            <a:r>
              <a:t>3. Dynamically Reprogrammed Reward Weights:</a:t>
            </a:r>
            <a:br/>
            <a:r>
              <a:t>   • α1 (Throughput):  0.10</a:t>
            </a:r>
            <a:br/>
            <a:r>
              <a:t>   • α2 (Delay):       0.60  (60% Focus)</a:t>
            </a:r>
            <a:br/>
            <a:r>
              <a:t>   • α3 (Loss):        0.20</a:t>
            </a:r>
            <a:br/>
            <a:r>
              <a:t>   • α4 (Balance):     0.10</a:t>
            </a:r>
            <a:br/>
            <a:br/>
            <a:r>
              <a:t>4. PPO Path Selection &amp; Execution:</a:t>
            </a:r>
            <a:br/>
            <a:r>
              <a:t>   Policy immediately shifts priority to lowest-latency links, and OS-Ken installs matching OpenFlow 1.3 flow rules.</a:t>
            </a:r>
          </a:p>
        </p:txBody>
      </p:sp>
      <p:sp>
        <p:nvSpPr>
          <p:cNvPr id="7" name="Rounded Rectangle 6"/>
          <p:cNvSpPr/>
          <p:nvPr/>
        </p:nvSpPr>
        <p:spPr>
          <a:xfrm>
            <a:off x="6217920" y="164592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8.png"/>
          <p:cNvPicPr>
            <a:picLocks noChangeAspect="1"/>
          </p:cNvPicPr>
          <p:nvPr/>
        </p:nvPicPr>
        <p:blipFill>
          <a:blip r:embed="rId2"/>
          <a:stretch>
            <a:fillRect/>
          </a:stretch>
        </p:blipFill>
        <p:spPr>
          <a:xfrm>
            <a:off x="6400800" y="1828800"/>
            <a:ext cx="4846320" cy="2503616"/>
          </a:xfrm>
          <a:prstGeom prst="rect">
            <a:avLst/>
          </a:prstGeom>
        </p:spPr>
      </p:pic>
      <p:sp>
        <p:nvSpPr>
          <p:cNvPr id="9" name="TextBox 8"/>
          <p:cNvSpPr txBox="1"/>
          <p:nvPr/>
        </p:nvSpPr>
        <p:spPr>
          <a:xfrm>
            <a:off x="6400800" y="5120640"/>
            <a:ext cx="4846320" cy="1188720"/>
          </a:xfrm>
          <a:prstGeom prst="rect">
            <a:avLst/>
          </a:prstGeom>
          <a:noFill/>
        </p:spPr>
        <p:txBody>
          <a:bodyPr wrap="square">
            <a:spAutoFit/>
          </a:bodyPr>
          <a:lstStyle/>
          <a:p>
            <a:pPr>
              <a:defRPr sz="950">
                <a:solidFill>
                  <a:srgbClr val="1A3D5F"/>
                </a:solidFill>
              </a:defRPr>
            </a:pPr>
            <a:r>
              <a:t>LIVE GEANT2 WEB DASHBOARD (Cytoscape.js + TailwindCSS):</a:t>
            </a:r>
            <a:br/>
            <a:r>
              <a:t>Renders 24 European nodes, displays dynamic reward weights, and highlights active routing pathways vs idle links in real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tIns="0" rIns="0" bIns="0">
            <a:spAutoFit/>
          </a:bodyPr>
          <a:lstStyle/>
          <a:p>
            <a:pPr>
              <a:defRPr sz="1000" b="1">
                <a:solidFill>
                  <a:srgbClr val="1A3D5F"/>
                </a:solidFill>
              </a:defRPr>
            </a:pPr>
            <a:r>
              <a:t>SUMMARY &amp; ROADMAP</a:t>
            </a:r>
          </a:p>
        </p:txBody>
      </p:sp>
      <p:sp>
        <p:nvSpPr>
          <p:cNvPr id="3" name="TextBox 2"/>
          <p:cNvSpPr txBox="1"/>
          <p:nvPr/>
        </p:nvSpPr>
        <p:spPr>
          <a:xfrm>
            <a:off x="731520" y="640080"/>
            <a:ext cx="10698480" cy="502920"/>
          </a:xfrm>
          <a:prstGeom prst="rect">
            <a:avLst/>
          </a:prstGeom>
          <a:noFill/>
        </p:spPr>
        <p:txBody>
          <a:bodyPr wrap="square" lIns="0" tIns="0" rIns="0" bIns="0">
            <a:spAutoFit/>
          </a:bodyPr>
          <a:lstStyle/>
          <a:p>
            <a:pPr>
              <a:defRPr sz="2200" b="1">
                <a:solidFill>
                  <a:srgbClr val="0B192C"/>
                </a:solidFill>
              </a:defRPr>
            </a:pPr>
            <a:r>
              <a:t>Conclusion, Contributions and Future Work</a:t>
            </a:r>
          </a:p>
        </p:txBody>
      </p:sp>
      <p:sp>
        <p:nvSpPr>
          <p:cNvPr id="4" name="TextBox 3"/>
          <p:cNvSpPr txBox="1"/>
          <p:nvPr/>
        </p:nvSpPr>
        <p:spPr>
          <a:xfrm>
            <a:off x="731520" y="1170432"/>
            <a:ext cx="10698480" cy="347472"/>
          </a:xfrm>
          <a:prstGeom prst="rect">
            <a:avLst/>
          </a:prstGeom>
          <a:noFill/>
        </p:spPr>
        <p:txBody>
          <a:bodyPr wrap="square" lIns="0" tIns="0" rIns="0" bIns="0">
            <a:spAutoFit/>
          </a:bodyPr>
          <a:lstStyle/>
          <a:p>
            <a:pPr>
              <a:defRPr sz="1100" i="1">
                <a:solidFill>
                  <a:srgbClr val="64748B"/>
                </a:solidFill>
              </a:defRPr>
            </a:pPr>
            <a:r>
              <a:t>Synthesizing key findings, novel contributions, and the future research horizon.</a:t>
            </a:r>
          </a:p>
        </p:txBody>
      </p:sp>
      <p:sp>
        <p:nvSpPr>
          <p:cNvPr id="5" name="Rounded Rectangle 4"/>
          <p:cNvSpPr/>
          <p:nvPr/>
        </p:nvSpPr>
        <p:spPr>
          <a:xfrm>
            <a:off x="731520" y="1645920"/>
            <a:ext cx="3328416"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389120"/>
          </a:xfrm>
          <a:prstGeom prst="rect">
            <a:avLst/>
          </a:prstGeom>
          <a:noFill/>
        </p:spPr>
        <p:txBody>
          <a:bodyPr wrap="square">
            <a:spAutoFit/>
          </a:bodyPr>
          <a:lstStyle/>
          <a:p>
            <a:pPr>
              <a:defRPr sz="1400" b="1">
                <a:solidFill>
                  <a:srgbClr val="0B192C"/>
                </a:solidFill>
              </a:defRPr>
            </a:pPr>
            <a:r>
              <a:t>Conclusion</a:t>
            </a:r>
          </a:p>
          <a:p>
            <a:pPr>
              <a:spcBef>
                <a:spcPts val="600"/>
              </a:spcBef>
              <a:defRPr sz="950">
                <a:solidFill>
                  <a:srgbClr val="475569"/>
                </a:solidFill>
              </a:defRPr>
            </a:pPr>
            <a:r>
              <a:t>• Feasibility Proven: Demonstrated that Graph Transformer-based PPO routing trained in an offline Digital Twin adapts effectively to dynamic, bursty traffic.</a:t>
            </a:r>
            <a:br/>
            <a:br/>
            <a:r>
              <a:t>• Surpassed Baselines: Achieved +32.6% higher reward than ECMP and lowest reward variance (17.47) across 100,000 steps.</a:t>
            </a:r>
            <a:br/>
            <a:br/>
            <a:r>
              <a:t>• Topology Agnostic: Generalized successfully across NSFNET, GEANT2, and Fat-Tree without retraining.</a:t>
            </a:r>
          </a:p>
        </p:txBody>
      </p:sp>
      <p:sp>
        <p:nvSpPr>
          <p:cNvPr id="7" name="Rounded Rectangle 6"/>
          <p:cNvSpPr/>
          <p:nvPr/>
        </p:nvSpPr>
        <p:spPr>
          <a:xfrm>
            <a:off x="4425696" y="1645920"/>
            <a:ext cx="3328416"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389120"/>
          </a:xfrm>
          <a:prstGeom prst="rect">
            <a:avLst/>
          </a:prstGeom>
          <a:noFill/>
        </p:spPr>
        <p:txBody>
          <a:bodyPr wrap="square">
            <a:spAutoFit/>
          </a:bodyPr>
          <a:lstStyle/>
          <a:p>
            <a:pPr>
              <a:defRPr sz="1400" b="1">
                <a:solidFill>
                  <a:srgbClr val="00A8CC"/>
                </a:solidFill>
              </a:defRPr>
            </a:pPr>
            <a:r>
              <a:t>Key Contributions</a:t>
            </a:r>
          </a:p>
          <a:p>
            <a:pPr>
              <a:spcBef>
                <a:spcPts val="600"/>
              </a:spcBef>
              <a:defRPr sz="950">
                <a:solidFill>
                  <a:srgbClr val="0F172A"/>
                </a:solidFill>
              </a:defRPr>
            </a:pPr>
            <a:r>
              <a:t>1. Hybrid Architecture: Combined Graph Transformers with PPO for topology-agnostic SDN routing.</a:t>
            </a:r>
            <a:br/>
            <a:br/>
            <a:r>
              <a:t>2. Safe Digital Twin: M/M/1/K queuing theory sandbox eliminating live network exploration hazards.</a:t>
            </a:r>
            <a:br/>
            <a:br/>
            <a:r>
              <a:t>3. Agentic Intent Layer: Sub-80ms LLM intent-to-reward translation with deterministic fallback.</a:t>
            </a:r>
            <a:br/>
            <a:br/>
            <a:r>
              <a:t>4. End-to-End Emulation: Fully decoupled three-plane system connecting OS-Ken, OpenFlow 1.3, Mininet, and Web UI.</a:t>
            </a:r>
          </a:p>
        </p:txBody>
      </p:sp>
      <p:sp>
        <p:nvSpPr>
          <p:cNvPr id="9" name="Rounded Rectangle 8"/>
          <p:cNvSpPr/>
          <p:nvPr/>
        </p:nvSpPr>
        <p:spPr>
          <a:xfrm>
            <a:off x="8119872" y="1645920"/>
            <a:ext cx="3328416"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389120"/>
          </a:xfrm>
          <a:prstGeom prst="rect">
            <a:avLst/>
          </a:prstGeom>
          <a:noFill/>
        </p:spPr>
        <p:txBody>
          <a:bodyPr wrap="square">
            <a:spAutoFit/>
          </a:bodyPr>
          <a:lstStyle/>
          <a:p>
            <a:pPr>
              <a:defRPr sz="1400" b="1">
                <a:solidFill>
                  <a:srgbClr val="EA580C"/>
                </a:solidFill>
              </a:defRPr>
            </a:pPr>
            <a:r>
              <a:t>Future Work Roadmap</a:t>
            </a:r>
          </a:p>
          <a:p>
            <a:pPr>
              <a:spcBef>
                <a:spcPts val="600"/>
              </a:spcBef>
              <a:defRPr sz="950">
                <a:solidFill>
                  <a:srgbClr val="475569"/>
                </a:solidFill>
              </a:defRPr>
            </a:pPr>
            <a:r>
              <a:t>• Physical SDN Testbed: Validation on enterprise hardware switches (e.g. Barefoot Tofino P4 / Cisco Nexus).</a:t>
            </a:r>
            <a:br/>
            <a:br/>
            <a:r>
              <a:t>• Hardware-in-the-Loop (HIL): Testing with physical optical transceivers and real optical impairment noise.</a:t>
            </a:r>
            <a:br/>
            <a:br/>
            <a:r>
              <a:t>• Multi-Controller Clusters: Distributed ONOS / OpenDaylight clustering for carrier-scale WANs.</a:t>
            </a:r>
            <a:br/>
            <a:br/>
            <a:r>
              <a:t>• Security Hardening: Defenses against adversarial flow manipulation and telemetry poisoning.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1371600" y="914400"/>
            <a:ext cx="9445752" cy="5029200"/>
          </a:xfrm>
          <a:prstGeom prst="roundRect">
            <a:avLst/>
          </a:prstGeom>
          <a:solidFill>
            <a:srgbClr val="132A45"/>
          </a:solidFill>
          <a:ln w="12700">
            <a:solidFill>
              <a:srgbClr val="1E41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371600"/>
            <a:ext cx="8531352" cy="4114800"/>
          </a:xfrm>
          <a:prstGeom prst="rect">
            <a:avLst/>
          </a:prstGeom>
          <a:noFill/>
        </p:spPr>
        <p:txBody>
          <a:bodyPr wrap="square">
            <a:spAutoFit/>
          </a:bodyPr>
          <a:lstStyle/>
          <a:p>
            <a:pPr algn="ctr">
              <a:defRPr sz="3600" b="1">
                <a:solidFill>
                  <a:srgbClr val="FFFFFF"/>
                </a:solidFill>
              </a:defRPr>
            </a:pPr>
            <a:r>
              <a:t>THANK YOU</a:t>
            </a:r>
          </a:p>
          <a:p>
            <a:pPr algn="ctr">
              <a:defRPr sz="2000" b="1">
                <a:solidFill>
                  <a:srgbClr val="00A8CC"/>
                </a:solidFill>
              </a:defRPr>
            </a:pPr>
            <a:r>
              <a:t>Questions &amp; Discussion</a:t>
            </a:r>
          </a:p>
          <a:p>
            <a:pPr algn="ctr">
              <a:defRPr sz="1400">
                <a:solidFill>
                  <a:srgbClr val="3C648C"/>
                </a:solidFill>
              </a:defRPr>
            </a:pPr>
            <a:r>
              <a:t>━━━━━━━━━━━━━━━━━━━━━━━━━━━━</a:t>
            </a:r>
          </a:p>
          <a:p>
            <a:pPr algn="ctr">
              <a:defRPr sz="1400" b="1">
                <a:solidFill>
                  <a:srgbClr val="FFFFFF"/>
                </a:solidFill>
              </a:defRPr>
            </a:pPr>
            <a:r>
              <a:t>GARRO: Graph-Attention Reinforcement Routing Orchestrator</a:t>
            </a:r>
          </a:p>
          <a:p>
            <a:pPr algn="ctr">
              <a:defRPr sz="1100" i="1">
                <a:solidFill>
                  <a:srgbClr val="B4CDE6"/>
                </a:solidFill>
              </a:defRPr>
            </a:pPr>
            <a:r>
              <a:t>Dynamic Traffic Routing in Software-Defined Networks Using Deep Reinforcement Learning</a:t>
            </a:r>
          </a:p>
          <a:p>
            <a:pPr algn="ctr">
              <a:spcBef>
                <a:spcPts val="1400"/>
              </a:spcBef>
              <a:defRPr sz="1100">
                <a:solidFill>
                  <a:srgbClr val="A0B9D2"/>
                </a:solidFill>
              </a:defRPr>
            </a:pPr>
            <a:r>
              <a:t>Agbeni Daniel Oluwafemi | FPA/CS/24/3-0006</a:t>
            </a:r>
            <a:br/>
            <a:r>
              <a:t>Department of Networking and Cloud Computing</a:t>
            </a:r>
            <a:br/>
            <a:r>
              <a:t>The Federal Polytechnic, Ado-Ekiti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